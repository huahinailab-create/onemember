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653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— THE HOOK (1 min)</a:t>
            </a:r>
          </a:p>
          <a:p>
            <a:endParaRPr/>
          </a:p>
          <a:p>
            <a:r>
              <a:t>Do not open with "let me tell you about OneMember." Open with silence and let them read the slide.</a:t>
            </a:r>
          </a:p>
          <a:p>
            <a:endParaRPr/>
          </a:p>
          <a:p>
            <a:r>
              <a:t>Then say: "Every week, customers walk through your door, have a great experience — and never come back. Not because they didn't enjoy it. Because you gave them no reason to remember you."</a:t>
            </a:r>
          </a:p>
          <a:p>
            <a:endParaRPr/>
          </a:p>
          <a:p>
            <a:r>
              <a:t>Pause. Let that land.</a:t>
            </a:r>
          </a:p>
          <a:p>
            <a:endParaRPr/>
          </a:p>
          <a:p>
            <a:r>
              <a:t>Then: "Today I want to show you exactly how much that's costing you — and how to fix it in 10 minutes."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— THE REALITY (1.5 min)</a:t>
            </a:r>
          </a:p>
          <a:p>
            <a:endParaRPr/>
          </a:p>
          <a:p>
            <a:r>
              <a:t>Present each stat slowly. After each one, ask: "Does that surprise you?"</a:t>
            </a:r>
          </a:p>
          <a:p>
            <a:endParaRPr/>
          </a:p>
          <a:p>
            <a:r>
              <a:t>The third stat — ฿0 — is the most devastating. Most merchants know customer X is their regular, but have no systematic record, no contact details, no way to reach them if they disappear.</a:t>
            </a:r>
          </a:p>
          <a:p>
            <a:endParaRPr/>
          </a:p>
          <a:p>
            <a:r>
              <a:t>Say: "Your biggest competitor isn't another business. It's the gap between the customer who walked in yesterday and the moment you forget each other."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— THE COST CALCULATOR (2 min)</a:t>
            </a:r>
          </a:p>
          <a:p>
            <a:endParaRPr/>
          </a:p>
          <a:p>
            <a:r>
              <a:t>This slide should feel personal. Before showing it, say:</a:t>
            </a:r>
          </a:p>
          <a:p>
            <a:endParaRPr/>
          </a:p>
          <a:p>
            <a:r>
              <a:t>"Let me put your specific numbers in here. How many customers do you serve per week? What's your average spend?"</a:t>
            </a:r>
          </a:p>
          <a:p>
            <a:endParaRPr/>
          </a:p>
          <a:p>
            <a:r>
              <a:t>Adjust the equation mentally and share the result. The default is conservative — 200 customers, 60% lapse, ฿400 average. Many merchants will realise the real number is higher.</a:t>
            </a:r>
          </a:p>
          <a:p>
            <a:endParaRPr/>
          </a:p>
          <a:p>
            <a:r>
              <a:t>Say: "That's not money you're losing to competitors. That's money you already earned — but never collected twice."</a:t>
            </a:r>
          </a:p>
          <a:p>
            <a:endParaRPr/>
          </a:p>
          <a:p>
            <a:r>
              <a:t>This is the emotional peak of the presentation. Do not rush past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— THE PIVOT (1 min)</a:t>
            </a:r>
          </a:p>
          <a:p>
            <a:endParaRPr/>
          </a:p>
          <a:p>
            <a:r>
              <a:t>This is the emotional turning point. From pain to possibility.</a:t>
            </a:r>
          </a:p>
          <a:p>
            <a:endParaRPr/>
          </a:p>
          <a:p>
            <a:r>
              <a:t>Don't answer the question yet. Just let it sit.</a:t>
            </a:r>
          </a:p>
          <a:p>
            <a:endParaRPr/>
          </a:p>
          <a:p>
            <a:r>
              <a:t>Say: "That's not a fantasy. That's a number businesses using OneMember actually see. And we can show you exactly how."</a:t>
            </a:r>
          </a:p>
          <a:p>
            <a:endParaRPr/>
          </a:p>
          <a:p>
            <a:r>
              <a:t>Then move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— THE SOLUTION (2 min)</a:t>
            </a:r>
          </a:p>
          <a:p>
            <a:endParaRPr/>
          </a:p>
          <a:p>
            <a:r>
              <a:t>This is the first time OneMember is formally introduced. Keep it brief. The product earns its place after the problem is established.</a:t>
            </a:r>
          </a:p>
          <a:p>
            <a:endParaRPr/>
          </a:p>
          <a:p>
            <a:r>
              <a:t>Walk through each pillar: "We built OneMember around five outcomes — not five features. Every one of them exists to do one thing: get your customers to come back."</a:t>
            </a:r>
          </a:p>
          <a:p>
            <a:endParaRPr/>
          </a:p>
          <a:p>
            <a:r>
              <a:t>Do not demo the software yet. That comes in the demo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— HOW IT WORKS (1.5 min)</a:t>
            </a:r>
          </a:p>
          <a:p>
            <a:endParaRPr/>
          </a:p>
          <a:p>
            <a:r>
              <a:t>Keep this fast. This is process, not pitch.</a:t>
            </a:r>
          </a:p>
          <a:p>
            <a:endParaRPr/>
          </a:p>
          <a:p>
            <a:r>
              <a:t>"The customer experience is three steps: scan, earn, return. That's it. For you, it's even simpler — you set it up once, and it runs."</a:t>
            </a:r>
          </a:p>
          <a:p>
            <a:endParaRPr/>
          </a:p>
          <a:p>
            <a:r>
              <a:t>If the merchant is tech-skeptical, emphasise: "No app download for your customers. No hardware. Just a QR code you print or display on your counter."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— GROWTH PROJECTION (1.5 min)</a:t>
            </a:r>
          </a:p>
          <a:p>
            <a:endParaRPr/>
          </a:p>
          <a:p>
            <a:r>
              <a:t>Frame this as a story of transformation, not a forecast.</a:t>
            </a:r>
          </a:p>
          <a:p>
            <a:endParaRPr/>
          </a:p>
          <a:p>
            <a:r>
              <a:t>"In month one, you're building your database. In month three, you know your customers by name. In month six, they're coming back because you've given them a reason to. In year one, the cumulative effect is a business that looks fundamentally different."</a:t>
            </a:r>
          </a:p>
          <a:p>
            <a:endParaRPr/>
          </a:p>
          <a:p>
            <a:r>
              <a:t>The ฿545K figure is based on conservative assumptions. Invite the merchant to put their own numbers in — the ROI calculator does this precisely.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— CASE STUDIES (2 min)</a:t>
            </a:r>
          </a:p>
          <a:p>
            <a:endParaRPr/>
          </a:p>
          <a:p>
            <a:r>
              <a:t>Note: These are representative examples. If you have real merchant data, replace these now.</a:t>
            </a:r>
          </a:p>
          <a:p>
            <a:endParaRPr/>
          </a:p>
          <a:p>
            <a:r>
              <a:t>Present each case briefly: business type, the result, the quote. Then ask: "Which of these sounds most like your business?"</a:t>
            </a:r>
          </a:p>
          <a:p>
            <a:endParaRPr/>
          </a:p>
          <a:p>
            <a:r>
              <a:t>The goal is to make the merchant visualise themselves in one of these stories. The quote on each case should do the emotional work — let them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— ROI CALCULATOR (3 min)</a:t>
            </a:r>
          </a:p>
          <a:p>
            <a:endParaRPr/>
          </a:p>
          <a:p>
            <a:r>
              <a:t>This is the most important slide in the presentation. Personalise it.</a:t>
            </a:r>
          </a:p>
          <a:p>
            <a:endParaRPr/>
          </a:p>
          <a:p>
            <a:r>
              <a:t>Before revealing the calculation, say: "Let me put your numbers in."</a:t>
            </a:r>
          </a:p>
          <a:p>
            <a:endParaRPr/>
          </a:p>
          <a:p>
            <a:r>
              <a:t>Ask: How many customers per week? What's the average spend? Adjust mentally or on the ROI Calculator spreadsheet.</a:t>
            </a:r>
          </a:p>
          <a:p>
            <a:endParaRPr/>
          </a:p>
          <a:p>
            <a:r>
              <a:t>When you show the ฿45,000+ figure: "That's not a forecast. That's a conservative estimate based on the average improvement we see at similar businesses."</a:t>
            </a:r>
          </a:p>
          <a:p>
            <a:endParaRPr/>
          </a:p>
          <a:p>
            <a:r>
              <a:t>ROI of 22× means: for every ฿1 they spend on OneMember, they get ฿22 back. The payback period is under 2 weeks.</a:t>
            </a:r>
          </a:p>
          <a:p>
            <a:endParaRPr/>
          </a:p>
          <a:p>
            <a:r>
              <a:t>Handover: give them the physical ROI Calculator so they can run their own numbers after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— TRUST &amp; PRIVACY (1 min)</a:t>
            </a:r>
          </a:p>
          <a:p>
            <a:endParaRPr/>
          </a:p>
          <a:p>
            <a:r>
              <a:t>Some merchants will ask about data privacy unprompted. Many won't — but their customers might.</a:t>
            </a:r>
          </a:p>
          <a:p>
            <a:endParaRPr/>
          </a:p>
          <a:p>
            <a:r>
              <a:t>Say: "We take PDPA seriously because your customers do. A loyalty programme only works if customers trust it. We've built compliance in from day one — not as an afterthought."</a:t>
            </a:r>
          </a:p>
          <a:p>
            <a:endParaRPr/>
          </a:p>
          <a:p>
            <a:r>
              <a:t>Key message: You own your data. We are a tool. Not a data broker.</a:t>
            </a:r>
          </a:p>
          <a:p>
            <a:endParaRPr/>
          </a:p>
          <a:p>
            <a:r>
              <a:t>If the merchant has a DPO or legal contact, offer to send a Data Processing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— URGENCY (1 min)</a:t>
            </a:r>
          </a:p>
          <a:p>
            <a:endParaRPr/>
          </a:p>
          <a:p>
            <a:r>
              <a:t>Don't be pushy. Let the logic create urgency.</a:t>
            </a:r>
          </a:p>
          <a:p>
            <a:endParaRPr/>
          </a:p>
          <a:p>
            <a:r>
              <a:t>"I'm not here to pressure you. But I want to be honest: the merchants who build their member database first own the loyalty advantage in their area. Once a customer is loyal to a competitor, it's very hard to win them back."</a:t>
            </a:r>
          </a:p>
          <a:p>
            <a:endParaRPr/>
          </a:p>
          <a:p>
            <a:r>
              <a:t>Then: "Every week you wait is a week of data you don't have."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— RISK REVERSAL (1 min)</a:t>
            </a:r>
          </a:p>
          <a:p>
            <a:endParaRPr/>
          </a:p>
          <a:p>
            <a:r>
              <a:t>Remove every possible objection before it's raised.</a:t>
            </a:r>
          </a:p>
          <a:p>
            <a:endParaRPr/>
          </a:p>
          <a:p>
            <a:r>
              <a:t>Note: If the ฿1,990 pricing needs to be updated, do so before the meeting.</a:t>
            </a:r>
          </a:p>
          <a:p>
            <a:endParaRPr/>
          </a:p>
          <a:p>
            <a:r>
              <a:t>"You have nothing to lose. No contract. No setup fee. If it doesn't work, you cancel and owe nothing. But — and I say this as someone who has seen this work for a lot of businesses — it works."</a:t>
            </a:r>
          </a:p>
          <a:p>
            <a:endParaRPr/>
          </a:p>
          <a:p>
            <a:r>
              <a:t>The "30-day guarantee" is a powerful closer. Lead with it if you sense hesitation.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— CALL TO ACTION (1 min)</a:t>
            </a:r>
          </a:p>
          <a:p>
            <a:endParaRPr/>
          </a:p>
          <a:p>
            <a:r>
              <a:t>The goal of this slide is a single action: open the registration screen together.</a:t>
            </a:r>
          </a:p>
          <a:p>
            <a:endParaRPr/>
          </a:p>
          <a:p>
            <a:r>
              <a:t>Do not leave without doing Step 1 together. Registration takes 5 minutes and means the merchant has skin in the game.</a:t>
            </a:r>
          </a:p>
          <a:p>
            <a:endParaRPr/>
          </a:p>
          <a:p>
            <a:r>
              <a:t>If they won't register today:</a:t>
            </a:r>
          </a:p>
          <a:p>
            <a:r>
              <a:t>• Set a specific follow-up time before you leave</a:t>
            </a:r>
          </a:p>
          <a:p>
            <a:r>
              <a:t>• Send the ROI Calculator with their numbers filled in</a:t>
            </a:r>
          </a:p>
          <a:p>
            <a:r>
              <a:t>• Leave the Merchant FAQ and Objection Handling Guide</a:t>
            </a:r>
          </a:p>
          <a:p>
            <a:endParaRPr/>
          </a:p>
          <a:p>
            <a:r>
              <a:t>Never leave with "I'll think about it" as the outcome. Always leave with a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172645"/>
                </a:solidFill>
                <a:latin typeface="Arial"/>
              </a:rP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"/>
              </a:rPr>
              <a:t>"Your customers are
forgetting you."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794760"/>
            <a:ext cx="3200400" cy="4445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F0F4"/>
                </a:solidFill>
                <a:latin typeface="Arial"/>
              </a:rPr>
              <a:t>This is the most expensive thing happening
in your business right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0807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1585"/>
                </a:solidFill>
                <a:latin typeface="Arial"/>
              </a:rPr>
              <a:t>one</a:t>
            </a:r>
            <a:r>
              <a:rPr sz="17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2011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Arial"/>
              </a:rPr>
              <a:t>HERE'S WHAT'S ACTUALLY HAPPENING.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Here's what's actually happening.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07008"/>
            <a:ext cx="10972800" cy="12700"/>
          </a:xfrm>
          <a:prstGeom prst="rect">
            <a:avLst/>
          </a:prstGeom>
          <a:solidFill>
            <a:srgbClr val="1E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749039" cy="50292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1585"/>
                </a:solidFill>
                <a:latin typeface="Arial"/>
              </a:rPr>
              <a:t>7 in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74720"/>
            <a:ext cx="2834639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34747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Arial"/>
              </a:rPr>
              <a:t>customers who visit a business once
never come 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399" y="1417320"/>
            <a:ext cx="3749039" cy="50292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399" y="16916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1585"/>
                </a:solidFill>
                <a:latin typeface="Arial"/>
              </a:rPr>
              <a:t>5–7×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599" y="3474720"/>
            <a:ext cx="2834639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3703320"/>
            <a:ext cx="34747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Arial"/>
              </a:rPr>
              <a:t>more expensive to acquire a new customer
than to keep an existing 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8" y="1417320"/>
            <a:ext cx="3749039" cy="50292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8" y="16916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1585"/>
                </a:solidFill>
                <a:latin typeface="Arial"/>
              </a:rPr>
              <a:t>฿0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18" y="3474720"/>
            <a:ext cx="2834639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8" y="3703320"/>
            <a:ext cx="34747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Arial"/>
              </a:rPr>
              <a:t>the data most businesses have about
which customers stopped coming — and 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172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1585"/>
                </a:solidFill>
                <a:latin typeface="Arial"/>
              </a:rPr>
              <a:t>one</a:t>
            </a:r>
            <a:r>
              <a:rPr sz="14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C3A"/>
                </a:solidFill>
                <a:latin typeface="Arial"/>
              </a:rPr>
              <a:t>What is this costing you?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987552"/>
            <a:ext cx="1143000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0040" y="1188720"/>
            <a:ext cx="2651760" cy="27432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65176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C3A"/>
                </a:solidFill>
                <a:latin typeface="Arial"/>
              </a:rPr>
              <a:t>200
customers
per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188720"/>
            <a:ext cx="2651760" cy="27432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54680" y="1188720"/>
            <a:ext cx="265176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16916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C3A"/>
                </a:solidFill>
                <a:latin typeface="Arial"/>
              </a:rPr>
              <a:t>60%
don't return
next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188720"/>
            <a:ext cx="2651760" cy="27432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1188720"/>
            <a:ext cx="2651760" cy="508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6916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C3A"/>
                </a:solidFill>
                <a:latin typeface="Arial"/>
              </a:rPr>
              <a:t>฿400
average
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103120"/>
            <a:ext cx="18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1585"/>
                </a:solidFill>
                <a:latin typeface="Arial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2103120"/>
            <a:ext cx="18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1585"/>
                </a:solidFill>
                <a:latin typeface="Arial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1031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1585"/>
                </a:solidFill>
                <a:latin typeface="Arial"/>
              </a:rPr>
              <a:t>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188720"/>
            <a:ext cx="2834640" cy="274320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417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1585"/>
                </a:solidFill>
                <a:latin typeface="Arial"/>
              </a:rPr>
              <a:t>฿48,000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670048"/>
            <a:ext cx="246888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852928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0F4"/>
                </a:solidFill>
                <a:latin typeface="Arial"/>
              </a:rPr>
              <a:t>leaving quietly every month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" y="4160520"/>
            <a:ext cx="11795760" cy="685800"/>
          </a:xfrm>
          <a:prstGeom prst="roundRect">
            <a:avLst/>
          </a:prstGeom>
          <a:solidFill>
            <a:srgbClr val="FF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2062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C3A"/>
                </a:solidFill>
                <a:latin typeface="Arial"/>
              </a:rPr>
              <a:t>Every month. Without a trace. Without a goodbye.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172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1585"/>
                </a:solidFill>
                <a:latin typeface="Arial"/>
              </a:rPr>
              <a:t>one</a:t>
            </a:r>
            <a:r>
              <a:rPr sz="1400" b="1">
                <a:solidFill>
                  <a:srgbClr val="1A2E5A"/>
                </a:solidFill>
                <a:latin typeface="Arial"/>
              </a:rPr>
              <a:t>member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1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Arial"/>
              </a:rPr>
              <a:t>What if they kept
coming back?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977639"/>
            <a:ext cx="5760720" cy="12700"/>
          </a:xfrm>
          <a:prstGeom prst="rect">
            <a:avLst/>
          </a:prstGeom>
          <a:solidFill>
            <a:srgbClr val="FF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What if 30% more of your customers returned next month?
What would that mean for your business?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807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1585"/>
                </a:solidFill>
                <a:latin typeface="Arial"/>
              </a:rPr>
              <a:t>one</a:t>
            </a:r>
            <a:r>
              <a:rPr sz="17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2743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1585"/>
                </a:solidFill>
                <a:latin typeface="Arial"/>
              </a:rPr>
              <a:t>one</a:t>
            </a:r>
            <a:r>
              <a:rPr sz="32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0058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We built this to fix exactly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0574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rial"/>
              </a:rPr>
              <a:t>A loyalty platform that turns every customer visit
into a relationship that lasts.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93392"/>
            <a:ext cx="2212848" cy="365760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15798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6032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Remember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27832"/>
            <a:ext cx="148132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3410712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Arial"/>
              </a:rPr>
              <a:t>Every customer who visits
becomes a member you know.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993392"/>
            <a:ext cx="2212848" cy="36576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0632" y="215798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56032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Reward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392" y="3227832"/>
            <a:ext cx="148132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360" y="3410712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Arial"/>
              </a:rPr>
              <a:t>Every visit earns points.
Every point brings them 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1993392"/>
            <a:ext cx="2212848" cy="3657600"/>
          </a:xfrm>
          <a:prstGeom prst="roundRect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9784" y="215798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56032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Reach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5544" y="3227832"/>
            <a:ext cx="148132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39512" y="3410712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Arial"/>
              </a:rPr>
              <a:t>Send the right offer
to the right person at the right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8936" y="1993392"/>
            <a:ext cx="2212848" cy="3657600"/>
          </a:xfrm>
          <a:prstGeom prst="roundRect">
            <a:avLst/>
          </a:prstGeom>
          <a:solidFill>
            <a:srgbClr val="3A2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88936" y="215798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256032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Retain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54696" y="3227832"/>
            <a:ext cx="148132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98664" y="3410712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Arial"/>
              </a:rPr>
              <a:t>Birthday gifts, win-backs,
expiry reminders — all automatic.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8088" y="1993392"/>
            <a:ext cx="2212848" cy="3657600"/>
          </a:xfrm>
          <a:prstGeom prst="roundRect">
            <a:avLst/>
          </a:prstGeom>
          <a:solidFill>
            <a:srgbClr val="5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48088" y="2157984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2560320"/>
            <a:ext cx="22128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Revenue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13848" y="3227832"/>
            <a:ext cx="1481328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57816" y="3410712"/>
            <a:ext cx="1993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Arial"/>
              </a:rPr>
              <a:t>More repeat visits.
Higher lifetime value. Real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9164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How it works — in 30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3657600" cy="420624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205739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1585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79191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Customer
Scans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502151"/>
            <a:ext cx="2743200" cy="12700"/>
          </a:xfrm>
          <a:prstGeom prst="rect">
            <a:avLst/>
          </a:prstGeom>
          <a:solidFill>
            <a:srgbClr val="FF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703319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0F4"/>
                </a:solidFill>
                <a:latin typeface="Arial"/>
              </a:rPr>
              <a:t>They point their phone at your QR code.
In 30 seconds, they're a member.
No app. No download. Just a scan.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703319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74519"/>
            <a:ext cx="3657600" cy="420624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205739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1585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679191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Earns
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502151"/>
            <a:ext cx="27432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3703319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0F4"/>
                </a:solidFill>
                <a:latin typeface="Arial"/>
              </a:rPr>
              <a:t>Every visit logs points or stamps.
You do nothing.
It works while you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703319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1585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657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205739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1585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679191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C3A"/>
                </a:solidFill>
                <a:latin typeface="Arial"/>
              </a:rPr>
              <a:t>Gets a
Reason to Return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3502151"/>
            <a:ext cx="274320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703319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Arial"/>
              </a:rPr>
              <a:t>Rewards, birthday offers, and
personalised messages bring them back.
All sent automatically.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6309360"/>
            <a:ext cx="5760720" cy="438912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6309360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North Star: A customer joins in under 30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2743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C3A"/>
                </a:solidFill>
                <a:latin typeface="Arial"/>
              </a:rPr>
              <a:t>What your business looks like with OneMember.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1143000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2743200" cy="45720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1585"/>
                </a:solidFill>
                <a:latin typeface="Arial"/>
              </a:rPr>
              <a:t>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10512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F1C3A"/>
                </a:solidFill>
                <a:latin typeface="Arial"/>
              </a:rPr>
              <a:t>~200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20116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Arial"/>
              </a:rPr>
              <a:t>Members enrolled
in your first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188720"/>
            <a:ext cx="2743200" cy="45720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188720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1585"/>
                </a:solidFill>
                <a:latin typeface="Arial"/>
              </a:rPr>
              <a:t>Month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810512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F1C3A"/>
                </a:solidFill>
                <a:latin typeface="Arial"/>
              </a:rPr>
              <a:t>~600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3246120"/>
            <a:ext cx="20116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34747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Arial"/>
              </a:rPr>
              <a:t>Members in your database,
all reachable by you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188720"/>
            <a:ext cx="2743200" cy="45720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188720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1585"/>
                </a:solidFill>
                <a:latin typeface="Arial"/>
              </a:rPr>
              <a:t>Month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810512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+40%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3246120"/>
            <a:ext cx="201168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0F4"/>
                </a:solidFill>
                <a:latin typeface="Arial"/>
              </a:rPr>
              <a:t>Average member visit
frequency increase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188720"/>
            <a:ext cx="2743200" cy="457200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9720" y="1188720"/>
            <a:ext cx="27432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1585"/>
                </a:solidFill>
                <a:latin typeface="Arial"/>
              </a:rPr>
              <a:t>Month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1810512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฿545K+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3246120"/>
            <a:ext cx="201168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347472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0F4"/>
                </a:solidFill>
                <a:latin typeface="Arial"/>
              </a:rPr>
              <a:t>Projected additional
revenue in Year 1*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Arial"/>
              </a:rPr>
              <a:t>* Based on 200 weekly customers, ฿400 avg spend, 15% return rate improvement. Actual results vary.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3200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Real businesses. Real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3749039" cy="4800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749039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0800" cy="48006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C3A"/>
                </a:solidFill>
                <a:latin typeface="Arial"/>
              </a:rPr>
              <a:t>The Coffee Club — Bangkok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Café · Silom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96312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312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472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in first 60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690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฿35,000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188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additional monthly 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486399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605272"/>
            <a:ext cx="34289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Arial"/>
              </a:rPr>
              <a:t>"We finally know which customers are loyal and which ones we need to win back."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399" y="1508760"/>
            <a:ext cx="3749039" cy="4800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399" y="1508760"/>
            <a:ext cx="3749039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399" y="1508760"/>
            <a:ext cx="50800" cy="48006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79" y="1673352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C3A"/>
                </a:solidFill>
                <a:latin typeface="Arial"/>
              </a:rPr>
              <a:t>Fit &amp; Glow Studio — Thonglor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214884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Fitness · Bangkok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79" y="2496312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79" y="26974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89%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34472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member retention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0690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48188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reduction in new-member dependency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79" y="5486399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79" y="5605272"/>
            <a:ext cx="34289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Arial"/>
              </a:rPr>
              <a:t>"Our regulars feel recognised. The birthday rewards alone brought back 23 members in one week."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8" y="1508760"/>
            <a:ext cx="3749039" cy="4800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75318" y="1508760"/>
            <a:ext cx="3749039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75318" y="1508760"/>
            <a:ext cx="50800" cy="48006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8198" y="1673352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C3A"/>
                </a:solidFill>
                <a:latin typeface="Arial"/>
              </a:rPr>
              <a:t>Malee Fashion — Chiang Mai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8" y="214884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Boutique Retail · Nimman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198" y="2496312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8198" y="26974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฿220,000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198" y="34472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additional revenue in Year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198" y="406908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1585"/>
                </a:solidFill>
                <a:latin typeface="Arial"/>
              </a:rPr>
              <a:t>2.4×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198" y="481888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average purchase frequency increase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198" y="5486399"/>
            <a:ext cx="3383279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198" y="5605272"/>
            <a:ext cx="34289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Arial"/>
              </a:rPr>
              <a:t>"I used to guess what my customers wanted. Now I know."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Arial"/>
              </a:rPr>
              <a:t>* Results are illustrative based on representative business types. Individual results vary.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20116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Your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80467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rial"/>
              </a:rPr>
              <a:t>Based on your business — here's what OneMember delivers.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4572000" cy="443484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Weekly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3055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24328"/>
            <a:ext cx="41148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Average spend per visit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363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฿400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630168"/>
            <a:ext cx="41148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79476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Current return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4223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636008"/>
            <a:ext cx="41148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8006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With OneMember return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4807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1463040"/>
            <a:ext cx="6583680" cy="210312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16459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Monthly revenue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029968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฿45,000+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09067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F0"/>
                </a:solidFill>
                <a:latin typeface="Arial"/>
              </a:rPr>
              <a:t>extra revenue per month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3703320"/>
            <a:ext cx="3223260" cy="18288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49240" y="3858768"/>
            <a:ext cx="32232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projected Year 1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251960"/>
            <a:ext cx="3223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6A34A"/>
                </a:solidFill>
                <a:latin typeface="Arial"/>
              </a:rPr>
              <a:t>฿540,000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09660" y="3703320"/>
            <a:ext cx="3223260" cy="18288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09660" y="3858768"/>
            <a:ext cx="32232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rial"/>
              </a:rPr>
              <a:t>Return on investment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9660" y="4251960"/>
            <a:ext cx="3223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1585"/>
                </a:solidFill>
                <a:latin typeface="Arial"/>
              </a:rPr>
              <a:t>22×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64465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Arial"/>
              </a:rPr>
              <a:t>Subscription fee: ฿1,990/month · Annual cost: ฿23,880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" y="2286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C3A"/>
                </a:solidFill>
                <a:latin typeface="Arial"/>
              </a:rPr>
              <a:t>Your data. Your members.
Your business.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280160"/>
            <a:ext cx="1143000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0" y="228600"/>
            <a:ext cx="2834640" cy="10058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274320"/>
            <a:ext cx="2834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PDPA
Compliant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3657600" cy="1463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5080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PDPA Compliant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39112"/>
            <a:ext cx="329184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OneMember is built for Thailand's Personal Data Protection Act.
We collect only what is required. Nothing more.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463040"/>
            <a:ext cx="3657600" cy="1463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0248" y="1463040"/>
            <a:ext cx="5080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53128" y="16002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You Own Your Members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8" y="2039112"/>
            <a:ext cx="329184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3128" y="214884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Your member list is yours. We never share, sell, or use your customer data for any purpose other than running your programme.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463040"/>
            <a:ext cx="3657600" cy="1463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9016" y="1463040"/>
            <a:ext cx="5080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16002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Stored in Thailand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1896" y="2039112"/>
            <a:ext cx="329184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1896" y="214884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All data is stored on servers within Thailand, in compliance with local data residency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090672"/>
            <a:ext cx="3657600" cy="1463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3090672"/>
            <a:ext cx="5080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2278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Customers Are in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666744"/>
            <a:ext cx="329184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7764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Members can view, update, or delete their data at any time. Consent is always explicit and documented.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3090672"/>
            <a:ext cx="3657600" cy="146304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70248" y="3090672"/>
            <a:ext cx="5080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53128" y="32278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We Are a Tool, Not a Partner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53128" y="3666744"/>
            <a:ext cx="329184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53128" y="37764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OneMember does not compete with you. We do not market to your customers. We serve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20116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The window is closing.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005840"/>
            <a:ext cx="10058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CCDD"/>
                </a:solidFill>
                <a:latin typeface="Arial"/>
              </a:rPr>
              <a:t>Businesses in your area are already
building their member databases.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828800"/>
            <a:ext cx="11430000" cy="127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2011680"/>
            <a:ext cx="3749039" cy="228600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2011680"/>
            <a:ext cx="3749039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342899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Arial"/>
              </a:rPr>
              <a:t>Every week
without OneMember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80360"/>
            <a:ext cx="3383279" cy="12700"/>
          </a:xfrm>
          <a:prstGeom prst="rect">
            <a:avLst/>
          </a:prstGeom>
          <a:solidFill>
            <a:srgbClr val="35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34289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0F4"/>
                </a:solidFill>
                <a:latin typeface="Arial"/>
              </a:rPr>
              <a:t>is a week of customer relationships
you'll never have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399" y="2011680"/>
            <a:ext cx="3749039" cy="228600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399" y="2011680"/>
            <a:ext cx="3749039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79" y="2176272"/>
            <a:ext cx="342899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Arial"/>
              </a:rPr>
              <a:t>Every customer
who doesn't join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79" y="2880360"/>
            <a:ext cx="3383279" cy="12700"/>
          </a:xfrm>
          <a:prstGeom prst="rect">
            <a:avLst/>
          </a:prstGeom>
          <a:solidFill>
            <a:srgbClr val="35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79" y="3017520"/>
            <a:ext cx="34289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0F4"/>
                </a:solidFill>
                <a:latin typeface="Arial"/>
              </a:rPr>
              <a:t>is a customer your competitor
can reach — and you can't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18" y="2011680"/>
            <a:ext cx="3749039" cy="2286000"/>
          </a:xfrm>
          <a:prstGeom prst="round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18" y="2011680"/>
            <a:ext cx="3749039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198" y="2176272"/>
            <a:ext cx="342899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Arial"/>
              </a:rPr>
              <a:t>First movers
in your area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198" y="2880360"/>
            <a:ext cx="3383279" cy="12700"/>
          </a:xfrm>
          <a:prstGeom prst="rect">
            <a:avLst/>
          </a:prstGeom>
          <a:solidFill>
            <a:srgbClr val="35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198" y="3017520"/>
            <a:ext cx="34289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0F4"/>
                </a:solidFill>
                <a:latin typeface="Arial"/>
              </a:rPr>
              <a:t>capture the loyalty advantage
that's nearly impossible to reverse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526280"/>
            <a:ext cx="11430000" cy="127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" y="4681728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The loyalty advantage compounds over time.
The best time to start was last year.
The second-best time is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228600"/>
            <a:ext cx="10058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easiest decision
you'll make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No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58568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Month-to-month. Cancel anytime.
No questions asked.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600200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0248" y="1600200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8" y="17647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78308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Setup in 10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258568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8" y="237744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We walk you through it.
Your first member today.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600200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9016" y="1600200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7647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656" y="178308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Flat Monthly Fee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6176" y="2258568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6176" y="2377440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฿1,990/month.
No per-transaction costs. No surprises.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502152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3502152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666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850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Free Onboarding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60520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279392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We set up your programme with you.
Your QR code is ready before you leave.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0248" y="3502152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0248" y="3502152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07408" y="3666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36850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30-Day Guarantee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07408" y="4160520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07408" y="4279392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If you don't see value in 30 days,
we'll refund your first month.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9016" y="3502152"/>
            <a:ext cx="3657600" cy="17373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29016" y="3502152"/>
            <a:ext cx="3657600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66176" y="36667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1585"/>
                </a:solidFill>
                <a:latin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7656" y="36850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C3A"/>
                </a:solidFill>
                <a:latin typeface="Arial"/>
              </a:rPr>
              <a:t>Your First Member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66176" y="4160520"/>
            <a:ext cx="3383280" cy="127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66176" y="4279392"/>
            <a:ext cx="3429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Arial"/>
              </a:rPr>
              <a:t>Bring one customer in while I'm here.
Let's enrol them together right now.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1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2743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1585"/>
                </a:solidFill>
                <a:latin typeface="Arial"/>
              </a:rPr>
              <a:t>one</a:t>
            </a:r>
            <a:r>
              <a:rPr sz="1800" b="1">
                <a:solidFill>
                  <a:srgbClr val="FFFFFF"/>
                </a:solidFill>
                <a:latin typeface="Arial"/>
              </a:rPr>
              <a:t>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Arial"/>
              </a:rPr>
              <a:t>Let's start
right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0F0"/>
                </a:solidFill>
                <a:latin typeface="Arial"/>
              </a:rPr>
              <a:t>Your first member could join in the next 5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337560"/>
            <a:ext cx="8503920" cy="12700"/>
          </a:xfrm>
          <a:prstGeom prst="rect">
            <a:avLst/>
          </a:prstGeom>
          <a:solidFill>
            <a:srgbClr val="FF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88720" y="3566160"/>
            <a:ext cx="3200400" cy="201168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1585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879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Open your 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4754880"/>
            <a:ext cx="22860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91947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0F4"/>
                </a:solidFill>
                <a:latin typeface="Arial"/>
              </a:rPr>
              <a:t>Takes 5 minutes.
We do it together, right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566160"/>
            <a:ext cx="3200400" cy="201168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1585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1879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Set up your programme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4754880"/>
            <a:ext cx="22860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491947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0F4"/>
                </a:solidFill>
                <a:latin typeface="Arial"/>
              </a:rPr>
              <a:t>Choose your rewards.
We configure it for you.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60"/>
            <a:ext cx="3200400" cy="2011680"/>
          </a:xfrm>
          <a:prstGeom prst="round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1585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1879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Your first member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4754880"/>
            <a:ext cx="2286000" cy="12700"/>
          </a:xfrm>
          <a:prstGeom prst="rect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491947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0F4"/>
                </a:solidFill>
                <a:latin typeface="Arial"/>
              </a:rPr>
              <a:t>Call one customer.
Scan the QR. It's done.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008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onemember.app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2292</Words>
  <Application>Microsoft Macintosh PowerPoint</Application>
  <PresentationFormat>Widescreen</PresentationFormat>
  <Paragraphs>280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Khaniss Jand</cp:lastModifiedBy>
  <cp:revision>1</cp:revision>
  <dcterms:created xsi:type="dcterms:W3CDTF">2013-01-27T09:14:16Z</dcterms:created>
  <dcterms:modified xsi:type="dcterms:W3CDTF">2026-07-03T00:56:05Z</dcterms:modified>
  <cp:category/>
</cp:coreProperties>
</file>