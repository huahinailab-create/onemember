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 — การเปิดเรื่อง (1 นาที)</a:t>
            </a:r>
          </a:p>
          <a:p/>
          <a:p>
            <a:r>
              <a:t>อย่าเริ่มด้วย "ขอแนะนำ OneMember" เปิดด้วยความเงียบ และให้พวกเขาอ่านสไลด์</a:t>
            </a:r>
          </a:p>
          <a:p/>
          <a:p>
            <a:r>
              <a:t>แล้วพูดว่า: "ทุกสัปดาห์ ลูกค้าเดินเข้ามาในร้านของคุณ มีประสบการณ์ที่ดี — แล้วก็ไม่กลับมาอีก ไม่ใช่เพราะไม่ชอบ แต่เพราะคุณไม่ได้ให้เหตุผลให้พวกเขาจดจำคุณ"</a:t>
            </a:r>
          </a:p>
          <a:p/>
          <a:p>
            <a:r>
              <a:t>หยุด ให้มันซึมซาบ</a:t>
            </a:r>
          </a:p>
          <a:p/>
          <a:p>
            <a:r>
              <a:t>แล้วพูด: "วันนี้ผมอยากให้คุณเห็นว่ามันทำให้คุณสูญเสียเงินเท่าไร — และวิธีแก้ในเวลา 10 นาที"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 — ความเป็นจริง (1.5 นาที)</a:t>
            </a:r>
          </a:p>
          <a:p/>
          <a:p>
            <a:r>
              <a:t>นำเสนอแต่ละสถิติช้า ๆ หลังแต่ละข้อถามว่า "นี่ทำให้คุณประหลาดใจไหม?"</a:t>
            </a:r>
          </a:p>
          <a:p/>
          <a:p>
            <a:r>
              <a:t>สถิติที่สาม — ฿0 — น่าตกใจที่สุด ผู้ประกอบการส่วนใหญ่รู้ว่าลูกค้า X เป็นขาประจำ แต่ไม่มีข้อมูลอย่างเป็นระบบ ไม่มีเบอร์ติดต่อ ไม่มีทางเข้าถึงพวกเขาได้อีกถ้าหายไป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 — เครื่องคำนวณต้นทุน (2 นาที)</a:t>
            </a:r>
          </a:p>
          <a:p/>
          <a:p>
            <a:r>
              <a:t>ก่อนแสดงสไลด์ พูดว่า: "ขอใส่ตัวเลขของคุณดูนะครับ คุณมีลูกค้ากี่คนต่อสัปดาห์? ค่าใช้จ่ายเฉลี่ยคือเท่าไร?"</a:t>
            </a:r>
          </a:p>
          <a:p/>
          <a:p>
            <a:r>
              <a:t>ตัวเลขเริ่มต้นเป็นตัวเลขอนุรักษ์นิยม ผู้ประกอบการส่วนใหญ่จะพบว่าตัวเลขจริงสูงกว่านี้</a:t>
            </a:r>
          </a:p>
          <a:p/>
          <a:p>
            <a:r>
              <a:t>พูดว่า: "นี่ไม่ใช่เงินที่คุณเสียให้คู่แข่ง นี่คือเงินที่คุณหาได้แล้ว — แต่ไม่เคยเก็บซ้ำครั้งที่สอง"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4 — จุดเปลี่ยน (1 นาที)</a:t>
            </a:r>
          </a:p>
          <a:p/>
          <a:p>
            <a:r>
              <a:t>นี่คือจุดเปลี่ยนอารมณ์ จากความเจ็บปวดสู่ความเป็นไปได้</a:t>
            </a:r>
          </a:p>
          <a:p/>
          <a:p>
            <a:r>
              <a:t>อย่าตอบคำถามยัง แค่ปล่อยให้มันอยู่</a:t>
            </a:r>
          </a:p>
          <a:p/>
          <a:p>
            <a:r>
              <a:t>พูดว่า: "นี่ไม่ใช่ความฝัน นั่นคือตัวเลขที่ธุรกิจที่ใช้ OneMember เห็นจริง ๆ และเราสามารถแสดงให้คุณเห็นได้ว่าทำอย่างไร"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5 — วิธีแก้ปัญหา (2 นาที)</a:t>
            </a:r>
          </a:p>
          <a:p/>
          <a:p>
            <a:r>
              <a:t>นี่คือครั้งแรกที่แนะนำ OneMember อย่างเป็นทางการ พูดสั้น ๆ ผลิตภัณฑ์ได้รับตำแหน่งของมันหลังจากสร้างปัญหาแล้ว</a:t>
            </a:r>
          </a:p>
          <a:p/>
          <a:p>
            <a:r>
              <a:t>"เราสร้าง OneMember รอบ 5 ผลลัพธ์ — ไม่ใช่ 5 ฟีเจอร์ ทุกอย่างมีอยู่เพื่อทำสิ่งเดียว: ทำให้ลูกค้าของคุณกลับมา"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6 — วิธีการทำงาน (1.5 นาที)</a:t>
            </a:r>
          </a:p>
          <a:p/>
          <a:p>
            <a:r>
              <a:t>รวดเร็ว นี่คือกระบวนการ ไม่ใช่การขาย</a:t>
            </a:r>
          </a:p>
          <a:p/>
          <a:p>
            <a:r>
              <a:t>"ประสบการณ์ลูกค้าคือ 3 ขั้นตอน: สแกน สะสม กลับมา แค่นั้นเอง สำหรับคุณง่ายกว่านั้นอีก — ตั้งค่าครั้งเดียว แล้วมันก็ทำงานเอง"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7 — การเติบโต (1.5 นาที)</a:t>
            </a:r>
          </a:p>
          <a:p/>
          <a:p>
            <a:r>
              <a:t>นำเสนอเป็นเรื่องราวของการเปลี่ยนแปลง ไม่ใช่การคาดการณ์</a:t>
            </a:r>
          </a:p>
          <a:p/>
          <a:p>
            <a:r>
              <a:t>"ในเดือนแรก คุณกำลังสร้างฐานข้อมูล ในเดือนที่สาม คุณรู้จักลูกค้าแต่ละคน ในเดือนที่หก พวกเขากลับมาเพราะคุณให้เหตุผลแก่พวกเขา ในปีแรก ผลกระทบสะสมคือธุรกิจที่ดูแตกต่างออกไปอย่างสิ้นเชิง"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8 — กรณีศึกษา (2 นาที)</a:t>
            </a:r>
          </a:p>
          <a:p/>
          <a:p>
            <a:r>
              <a:t>หมายเหตุ: เหล่านี้เป็นตัวอย่างที่เป็นตัวแทน ถ้ามีข้อมูลผู้ประกอบการจริงให้แทนที่ตอนนี้</a:t>
            </a:r>
          </a:p>
          <a:p/>
          <a:p>
            <a:r>
              <a:t>นำเสนอแต่ละกรณีสั้น ๆ: ประเภทธุรกิจ ผลลัพธ์ คำพูด แล้วถามว่า "ธุรกิจไหนที่ฟังดูเหมือนของคุณมากที่สุด?"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9 — เครื่องคำนวณ ROI (3 นาที)</a:t>
            </a:r>
          </a:p>
          <a:p/>
          <a:p>
            <a:r>
              <a:t>นี่คือสไลด์ที่สำคัญที่สุดในการนำเสนอ ปรับแต่งให้เข้ากับผู้ฟัง</a:t>
            </a:r>
          </a:p>
          <a:p/>
          <a:p>
            <a:r>
              <a:t>ก่อนแสดงการคำนวณพูดว่า: "ขอใส่ตัวเลขของคุณนะครับ"</a:t>
            </a:r>
          </a:p>
          <a:p/>
          <a:p>
            <a:r>
              <a:t>ถาม: ลูกค้ากี่คนต่อสัปดาห์? ค่าใช้จ่ายเฉลี่ยเท่าไร?</a:t>
            </a:r>
          </a:p>
          <a:p/>
          <a:p>
            <a:r>
              <a:t>ROI 22× หมายความว่า: ทุก ฿1 ที่ลงทุนใน OneMember ได้คืน ฿22 คืนทุนภายใน 2 สัปดาห์</a:t>
            </a:r>
          </a:p>
          <a:p/>
          <a:p>
            <a:r>
              <a:t>มอบเครื่องคำนวณ ROI ให้พวกเขาเพื่อใส่ตัวเลขของตัวเองหลังการประชุม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10 — ความไว้วางใจและความเป็นส่วนตัว (1 นาที)</a:t>
            </a:r>
          </a:p>
          <a:p/>
          <a:p>
            <a:r>
              <a:t>"เราถือ PDPA อย่างจริงจังเพราะลูกค้าของคุณก็ทำเช่นนั้น โปรแกรมสมาชิกจะได้ผลเมื่อลูกค้าไว้วางใจเท่านั้น เราสร้างการปฏิบัติตามกฎหมายตั้งแต่วันแรก ไม่ใช่ทีหลัง"</a:t>
            </a:r>
          </a:p>
          <a:p/>
          <a:p>
            <a:r>
              <a:t>ข้อความหลัก: คุณเป็นเจ้าของข้อมูล เราคือเครื่องมือ ไม่ใช่นายหน้าข้อมูล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11 — ความเร่งด่วน (1 นาที)</a:t>
            </a:r>
          </a:p>
          <a:p/>
          <a:p>
            <a:r>
              <a:t>อย่ากดดัน ให้ตรรกะสร้างความเร่งด่วน</a:t>
            </a:r>
          </a:p>
          <a:p/>
          <a:p>
            <a:r>
              <a:t>"ผมไม่ได้มาบีบคุณ แต่ผู้ประกอบการที่สร้างฐานข้อมูลสมาชิกก่อนจะเป็นผู้ที่ครอง loyalty advantage ในพื้นที่ของตัวเอง เมื่อลูกค้าภักดีต่อคู่แข่งแล้ว มันยากมากที่จะดึงกลับมา"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12 — การลบความเสี่ยง (1 นาที)</a:t>
            </a:r>
          </a:p>
          <a:p/>
          <a:p>
            <a:r>
              <a:t>กำจัดทุกข้อโต้แย้งที่เป็นไปได้ก่อนที่จะถูกถาม</a:t>
            </a:r>
          </a:p>
          <a:p/>
          <a:p>
            <a:r>
              <a:t>"คุณไม่มีอะไรเสีย ไม่มีสัญญา ไม่มีค่าตั้งค่า ถ้าไม่ได้ผล คุณยกเลิกและไม่ต้องจ่ายอะไร แต่ — ในฐานะคนที่เห็นสิ่งนี้ได้ผลกับธุรกิจมากมาย — มันได้ผล"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13 — Call to Action (1 นาที)</a:t>
            </a:r>
          </a:p>
          <a:p/>
          <a:p>
            <a:r>
              <a:t>เป้าหมายของสไลด์นี้คือการดำเนินการเพียงอย่างเดียว: เปิดหน้าจอลงทะเบียนด้วยกัน</a:t>
            </a:r>
          </a:p>
          <a:p/>
          <a:p>
            <a:r>
              <a:t>อย่าออกไปโดยไม่ทำขั้นตอน 1 ด้วยกัน การลงทะเบียนใช้เวลา 5 นาที</a:t>
            </a:r>
          </a:p>
          <a:p/>
          <a:p>
            <a:r>
              <a:t>ถ้าพวกเขาไม่ลงทะเบียนวันนี้:</a:t>
            </a:r>
          </a:p>
          <a:p>
            <a:r>
              <a:t>• กำหนดเวลาติดตามผลก่อนออกไป</a:t>
            </a:r>
          </a:p>
          <a:p>
            <a:r>
              <a:t>• ส่งเครื่องคำนวณ ROI พร้อมตัวเลขของพวกเขา</a:t>
            </a:r>
          </a:p>
          <a:p>
            <a:r>
              <a:t>• ทิ้ง Merchant FAQ และ Objection Handling Guide ไว้</a:t>
            </a:r>
          </a:p>
          <a:p/>
          <a:p>
            <a:r>
              <a:t>อย่าออกไปด้วย "ขอคิดดูก่อน" เสมอออกไปด้วยวันและเวลา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172645"/>
                </a:solidFill>
                <a:latin typeface="Arial"/>
              </a:rP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Tahoma"/>
              </a:rPr>
              <a:t>"ลูกค้าของคุณ
กำลังลืมคุณ"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794760"/>
            <a:ext cx="3200400" cy="4445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0F4"/>
                </a:solidFill>
                <a:latin typeface="Tahoma"/>
              </a:rPr>
              <a:t>นี่คือสิ่งที่แพงที่สุดที่เกิดขึ้น
ในธุรกิจของคุณตอนนี้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0807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1585"/>
                </a:solidFill>
                <a:latin typeface="Arial"/>
              </a:rPr>
              <a:t>one</a:t>
            </a:r>
            <a:r>
              <a:rPr sz="17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011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นี่คือสิ่งที่เกิดขึ้นจริง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ahoma"/>
              </a:rPr>
              <a:t>นี่คือสิ่งที่เกิดขึ้นจริง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07008"/>
            <a:ext cx="10972800" cy="12700"/>
          </a:xfrm>
          <a:prstGeom prst="rect">
            <a:avLst/>
          </a:prstGeom>
          <a:solidFill>
            <a:srgbClr val="1E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749039" cy="50292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1585"/>
                </a:solidFill>
                <a:latin typeface="Arial"/>
              </a:rPr>
              <a:t>7 ใน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74720"/>
            <a:ext cx="2834639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34747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Tahoma"/>
              </a:rPr>
              <a:t>ลูกค้าที่มาครั้งเดียว
ไม่กลับมาอีกเลย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399" y="1417320"/>
            <a:ext cx="3749039" cy="50292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69164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1585"/>
                </a:solidFill>
                <a:latin typeface="Arial"/>
              </a:rPr>
              <a:t>5–7×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599" y="3474720"/>
            <a:ext cx="2834639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3703320"/>
            <a:ext cx="34747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Tahoma"/>
              </a:rPr>
              <a:t>แพงกว่าในการหาลูกค้าใหม่
เทียบกับการรักษาลูกค้าเดิม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8" y="1417320"/>
            <a:ext cx="3749039" cy="50292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8" y="169164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1585"/>
                </a:solidFill>
                <a:latin typeface="Arial"/>
              </a:rPr>
              <a:t>฿0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18" y="3474720"/>
            <a:ext cx="2834639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8" y="3703320"/>
            <a:ext cx="34747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Tahoma"/>
              </a:rPr>
              <a:t>ข้อมูลที่ธุรกิจส่วนใหญ่มี
เกี่ยวกับลูกค้าที่หยุดมา — และทำไม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172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1585"/>
                </a:solidFill>
                <a:latin typeface="Arial"/>
              </a:rPr>
              <a:t>one</a:t>
            </a:r>
            <a:r>
              <a:rPr sz="14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C3A"/>
                </a:solidFill>
                <a:latin typeface="Tahoma"/>
              </a:rPr>
              <a:t>มันกำลังทำให้คุณสูญเสียเงินเท่าไร?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987552"/>
            <a:ext cx="1143000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188720"/>
            <a:ext cx="2651760" cy="27432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65176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C3A"/>
                </a:solidFill>
                <a:latin typeface="Tahoma"/>
              </a:rPr>
              <a:t>200
ลูกค้า
ต่อสัปดาห์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188720"/>
            <a:ext cx="2651760" cy="27432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4680" y="1188720"/>
            <a:ext cx="265176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6916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C3A"/>
                </a:solidFill>
                <a:latin typeface="Tahoma"/>
              </a:rPr>
              <a:t>60%
ไม่กลับมา
ในเดือนหน้า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188720"/>
            <a:ext cx="2651760" cy="27432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188720"/>
            <a:ext cx="265176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916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C3A"/>
                </a:solidFill>
                <a:latin typeface="Tahoma"/>
              </a:rPr>
              <a:t>฿400
ใช้จ่าย
เฉลี่ยต่อครั้ง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103120"/>
            <a:ext cx="18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1585"/>
                </a:solidFill>
                <a:latin typeface="Arial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2103120"/>
            <a:ext cx="18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1585"/>
                </a:solidFill>
                <a:latin typeface="Arial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21031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1585"/>
                </a:solidFill>
                <a:latin typeface="Arial"/>
              </a:rPr>
              <a:t>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188720"/>
            <a:ext cx="2834640" cy="274320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4173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1585"/>
                </a:solidFill>
                <a:latin typeface="Arial"/>
              </a:rPr>
              <a:t>฿48,000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670048"/>
            <a:ext cx="246888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852928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0F4"/>
                </a:solidFill>
                <a:latin typeface="Tahoma"/>
              </a:rPr>
              <a:t>หายไปเงียบ ๆ ทุกเดือน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" y="4160520"/>
            <a:ext cx="11795760" cy="685800"/>
          </a:xfrm>
          <a:prstGeom prst="roundRect">
            <a:avLst/>
          </a:prstGeom>
          <a:solidFill>
            <a:srgbClr val="FF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2062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C3A"/>
                </a:solidFill>
                <a:latin typeface="Tahoma"/>
              </a:rPr>
              <a:t>ทุกเดือน โดยไม่ทิ้งร่องรอย ไม่มีการลาจาก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172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1585"/>
                </a:solidFill>
                <a:latin typeface="Arial"/>
              </a:rPr>
              <a:t>one</a:t>
            </a:r>
            <a:r>
              <a:rPr sz="1400" b="1">
                <a:solidFill>
                  <a:srgbClr val="1A2E5A"/>
                </a:solidFill>
                <a:latin typeface="Arial"/>
              </a:rPr>
              <a:t>member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15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Tahoma"/>
              </a:rPr>
              <a:t>จะเป็นอย่างไร
ถ้าพวกเขากลับมา?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977639"/>
            <a:ext cx="5760720" cy="12700"/>
          </a:xfrm>
          <a:prstGeom prst="rect">
            <a:avLst/>
          </a:prstGeom>
          <a:solidFill>
            <a:srgbClr val="FF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Tahoma"/>
              </a:rPr>
              <a:t>ถ้าลูกค้า 30% กลับมาเพิ่มขึ้นในเดือนหน้า
ธุรกิจของคุณจะเปลี่ยนไปแค่ไหน?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807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1585"/>
                </a:solidFill>
                <a:latin typeface="Arial"/>
              </a:rPr>
              <a:t>one</a:t>
            </a:r>
            <a:r>
              <a:rPr sz="17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743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1585"/>
                </a:solidFill>
                <a:latin typeface="Arial"/>
              </a:rPr>
              <a:t>one</a:t>
            </a:r>
            <a:r>
              <a:rPr sz="32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0058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Tahoma"/>
              </a:rPr>
              <a:t>เราสร้างสิ่งนี้เพื่อแก้ปัญหาที่ว่านั้นโดยตรง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20574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Tahoma"/>
              </a:rPr>
              <a:t>แพลตฟอร์มสมาชิกที่เปลี่ยนทุกการเยี่ยมชมของลูกค้า
เป็นความสัมพันธ์ที่ยั่งยืน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93392"/>
            <a:ext cx="2212848" cy="365760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5798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6032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ahoma"/>
              </a:rPr>
              <a:t>จดจำ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27832"/>
            <a:ext cx="148132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3410712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ลูกค้าทุกคนที่เข้ามา
กลายเป็นสมาชิกที่คุณรู้จัก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1993392"/>
            <a:ext cx="2212848" cy="36576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215798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56032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ahoma"/>
              </a:rPr>
              <a:t>มอบรางวัล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392" y="3227832"/>
            <a:ext cx="148132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3410712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ทุกครั้งที่มาได้แต้ม
ทุกแต้มพาพวกเขากลับมา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1993392"/>
            <a:ext cx="2212848" cy="3657600"/>
          </a:xfrm>
          <a:prstGeom prst="roundRect">
            <a:avLst/>
          </a:prstGeom>
          <a:solidFill>
            <a:srgbClr val="1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215798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56032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ahoma"/>
              </a:rPr>
              <a:t>เข้าถึง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5544" y="3227832"/>
            <a:ext cx="148132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3410712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ส่งออฟเฟอร์ที่ถูกต้อง
ให้คนที่ถูกต้องในเวลาที่ถูกต้อง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8936" y="1993392"/>
            <a:ext cx="2212848" cy="3657600"/>
          </a:xfrm>
          <a:prstGeom prst="roundRect">
            <a:avLst/>
          </a:prstGeom>
          <a:solidFill>
            <a:srgbClr val="3A2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8936" y="215798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256032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ahoma"/>
              </a:rPr>
              <a:t>รักษา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54696" y="3227832"/>
            <a:ext cx="148132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3410712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ของขวัญวันเกิด ดึงลูกค้ากลับ
รีมายเดอร์หมดอายุ — อัตโนมัติทั้งหมด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8088" y="1993392"/>
            <a:ext cx="2212848" cy="3657600"/>
          </a:xfrm>
          <a:prstGeom prst="roundRect">
            <a:avLst/>
          </a:prstGeom>
          <a:solidFill>
            <a:srgbClr val="5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8088" y="215798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256032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ahoma"/>
              </a:rPr>
              <a:t>เติบโต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13848" y="3227832"/>
            <a:ext cx="148132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7816" y="3410712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กลับมาซื้อบ่อยขึ้น
มูลค่าตลอดชีพสูงขึ้น เติบโตจริง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9164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ahoma"/>
              </a:rPr>
              <a:t>ใช้งานได้ — ใน 30 วินาที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19"/>
            <a:ext cx="3657600" cy="420624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5739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1585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79191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ahoma"/>
              </a:rPr>
              <a:t>ลูกค้า
สแกน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502151"/>
            <a:ext cx="2743200" cy="12700"/>
          </a:xfrm>
          <a:prstGeom prst="rect">
            <a:avLst/>
          </a:prstGeom>
          <a:solidFill>
            <a:srgbClr val="FF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03319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0F4"/>
                </a:solidFill>
                <a:latin typeface="Tahoma"/>
              </a:rPr>
              <a:t>ลูกค้าชี้โทรศัพท์ไปที่ QR Code ของคุณ
สมาชิกใน 30 วินาที
ไม่ต้องโหลดแอป ไม่ต้องดาวน์โหลดอะไร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703319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74519"/>
            <a:ext cx="3657600" cy="420624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205739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1585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679191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ahoma"/>
              </a:rPr>
              <a:t>สะสม
อัตโนมัติ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502151"/>
            <a:ext cx="27432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703319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0F4"/>
                </a:solidFill>
                <a:latin typeface="Tahoma"/>
              </a:rPr>
              <a:t>ทุกครั้งที่มาได้แต้มหรือสแตมป์
คุณไม่ต้องทำอะไร
ระบบทำงานให้คุณตลอดเวลา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703319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657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05739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1585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679191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C3A"/>
                </a:solidFill>
                <a:latin typeface="Tahoma"/>
              </a:rPr>
              <a:t>มีเหตุผล
ที่จะกลับมา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3502151"/>
            <a:ext cx="274320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703319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Tahoma"/>
              </a:rPr>
              <a:t>รางวัล ของขวัญวันเกิด และข้อความ
เฉพาะบุคคลดึงพวกเขากลับมา
อัตโนมัติทั้งหมด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6309360"/>
            <a:ext cx="5760720" cy="438912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6309360"/>
            <a:ext cx="5760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ahoma"/>
              </a:rPr>
              <a:t>เป้าหมายหลัก: ลูกค้าสมัครสมาชิกได้ภายใน 30 วินาที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C3A"/>
                </a:solidFill>
                <a:latin typeface="Tahoma"/>
              </a:rPr>
              <a:t>ธุรกิจของคุณจะเปลี่ยนไปอย่างนี้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1143000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2743200" cy="45720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1585"/>
                </a:solidFill>
                <a:latin typeface="Tahoma"/>
              </a:rPr>
              <a:t>เดือนที่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10512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F1C3A"/>
                </a:solidFill>
                <a:latin typeface="Arial"/>
              </a:rPr>
              <a:t>~200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20116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Tahoma"/>
              </a:rPr>
              <a:t>สมาชิกที่ลงทะเบียน
ในเดือนแรก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188720"/>
            <a:ext cx="2743200" cy="45720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188720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1585"/>
                </a:solidFill>
                <a:latin typeface="Tahoma"/>
              </a:rPr>
              <a:t>เดือนที่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810512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F1C3A"/>
                </a:solidFill>
                <a:latin typeface="Arial"/>
              </a:rPr>
              <a:t>~600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3246120"/>
            <a:ext cx="20116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747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Tahoma"/>
              </a:rPr>
              <a:t>สมาชิกในฐานข้อมูลของคุณ
ทุกคนสามารถเข้าถึงได้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188720"/>
            <a:ext cx="2743200" cy="45720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188720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1585"/>
                </a:solidFill>
                <a:latin typeface="Tahoma"/>
              </a:rPr>
              <a:t>เดือนที่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810512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+40%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3246120"/>
            <a:ext cx="201168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0F4"/>
                </a:solidFill>
                <a:latin typeface="Tahoma"/>
              </a:rPr>
              <a:t>ความถี่การมาของสมาชิก
เพิ่มขึ้นโดยเฉลี่ย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188720"/>
            <a:ext cx="2743200" cy="457200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188720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1585"/>
                </a:solidFill>
                <a:latin typeface="Tahoma"/>
              </a:rPr>
              <a:t>เดือนที่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1810512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฿545K+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3246120"/>
            <a:ext cx="201168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34747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0F4"/>
                </a:solidFill>
                <a:latin typeface="Tahoma"/>
              </a:rPr>
              <a:t>รายได้เพิ่มเติมที่คาดการณ์
ในปีแรก*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Tahoma"/>
              </a:rPr>
              <a:t>* อ้างอิงจากลูกค้า 200 คน/สัปดาห์ ค่าใช้จ่ายเฉลี่ย ฿400 การปรับปรุงอัตราการกลับมา 15% ผลลัพธ์จริงอาจแตกต่างกัน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3200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ahoma"/>
              </a:rPr>
              <a:t>ธุรกิจจริง ผลลัพธ์จริง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3749039" cy="4800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749039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0800" cy="48006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C3A"/>
                </a:solidFill>
                <a:latin typeface="Tahoma"/>
              </a:rPr>
              <a:t>The Coffee Club — กรุงเทพฯ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ahoma"/>
              </a:rPr>
              <a:t>คาเฟ่ · สีลม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96312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312 สมาชิก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472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ใน 60 วันแรก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690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฿35,000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188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รายได้เพิ่มขึ้นต่อเดือน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486399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605272"/>
            <a:ext cx="34289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Tahoma"/>
              </a:rPr>
              <a:t>"ตอนนี้เรารู้แล้วว่าลูกค้าคนไหนที่ภักดีจริง ๆ และใครที่ต้องดึงกลับมา"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399" y="1508760"/>
            <a:ext cx="3749039" cy="4800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399" y="1508760"/>
            <a:ext cx="3749039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399" y="1508760"/>
            <a:ext cx="50800" cy="48006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673352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C3A"/>
                </a:solidFill>
                <a:latin typeface="Tahoma"/>
              </a:rPr>
              <a:t>Fit &amp; Glow Studio — ทองหล่อ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2148840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ahoma"/>
              </a:rPr>
              <a:t>สตูดิโอฟิตเนส · กรุงเทพฯ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79" y="2496312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26974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89%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34472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อัตราการรักษาสมาชิก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0690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48188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ลดการพึ่งพาลูกค้าใหม่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79" y="5486399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79" y="5605272"/>
            <a:ext cx="34289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Tahoma"/>
              </a:rPr>
              <a:t>"ลูกค้าประจำรู้สึกว่าถูกให้ความสำคัญ ของขวัญวันเกิดอย่างเดียวดึงสมาชิก 23 คนกลับมาในสัปดาห์เดียว"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8" y="1508760"/>
            <a:ext cx="3749039" cy="4800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8" y="1508760"/>
            <a:ext cx="3749039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8" y="1508760"/>
            <a:ext cx="50800" cy="48006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198" y="1673352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C3A"/>
                </a:solidFill>
                <a:latin typeface="Tahoma"/>
              </a:rPr>
              <a:t>มาลี แฟชั่น — เชียงใหม่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8" y="2148840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ahoma"/>
              </a:rPr>
              <a:t>บูติก · นิมมาน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198" y="2496312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198" y="26974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฿220,000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198" y="34472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รายได้เพิ่มเติมในปีแรก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198" y="40690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2.4×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198" y="48188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ความถี่การซื้อเพิ่มขึ้น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198" y="5486399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198" y="5605272"/>
            <a:ext cx="34289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Tahoma"/>
              </a:rPr>
              <a:t>"ก่อนหน้านี้ฉันต้องเดาว่าลูกค้าต้องการอะไร ตอนนี้ฉันรู้แล้ว"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Tahoma"/>
              </a:rPr>
              <a:t>* ผลลัพธ์เป็นตัวอย่างที่เป็นตัวแทนตามประเภทธุรกิจ ผลลัพธ์จริงอาจแตกต่างกัน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0116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ahoma"/>
              </a:rPr>
              <a:t>ตัวเลขของคุณ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80467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Tahoma"/>
              </a:rPr>
              <a:t>อ้างอิงจากธุรกิจของคุณ — นี่คือสิ่งที่ OneMember ส่งมอบ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4572000" cy="443484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ahoma"/>
              </a:rPr>
              <a:t>ลูกค้าต่อสัปดาห์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3055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24328"/>
            <a:ext cx="41148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ahoma"/>
              </a:rPr>
              <a:t>ค่าใช้จ่ายเฉลี่ยต่อครั้ง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3639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฿400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630168"/>
            <a:ext cx="41148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79476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ahoma"/>
              </a:rPr>
              <a:t>อัตราการกลับมาปัจจุบัน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4223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636008"/>
            <a:ext cx="41148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006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ahoma"/>
              </a:rPr>
              <a:t>อัตราการกลับมาด้วย OneMember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4807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1463040"/>
            <a:ext cx="6583680" cy="210312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6459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ahoma"/>
              </a:rPr>
              <a:t>ผลกระทบต่อรายได้รายเดือน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029968"/>
            <a:ext cx="6583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฿45,000+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09067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F0"/>
                </a:solidFill>
                <a:latin typeface="Tahoma"/>
              </a:rPr>
              <a:t>รายได้เพิ่มขึ้นต่อเดือน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3703320"/>
            <a:ext cx="3223260" cy="18288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858768"/>
            <a:ext cx="32232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Tahoma"/>
              </a:rPr>
              <a:t>ผลกระทบที่คาดการณ์ในปีแรก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251960"/>
            <a:ext cx="3223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6A34A"/>
                </a:solidFill>
                <a:latin typeface="Arial"/>
              </a:rPr>
              <a:t>฿540,000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09660" y="3703320"/>
            <a:ext cx="3223260" cy="18288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09660" y="3858768"/>
            <a:ext cx="32232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Tahoma"/>
              </a:rPr>
              <a:t>ผลตอบแทนการลงทุน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9660" y="4251960"/>
            <a:ext cx="3223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1585"/>
                </a:solidFill>
                <a:latin typeface="Arial"/>
              </a:rPr>
              <a:t>22×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64465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Tahoma"/>
              </a:rPr>
              <a:t>ค่าบริการรายเดือน: ฿1,990 · ค่าใช้จ่ายรายปี: ฿23,880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286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C3A"/>
                </a:solidFill>
                <a:latin typeface="Tahoma"/>
              </a:rPr>
              <a:t>ข้อมูลของคุณ สมาชิกของคุณ
ธุรกิจของคุณ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280160"/>
            <a:ext cx="1143000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228600"/>
            <a:ext cx="2834640" cy="10058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274320"/>
            <a:ext cx="2834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ahoma"/>
              </a:rPr>
              <a:t>สอดคล้อง
กับ PDPA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3657600" cy="1463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5080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Tahoma"/>
              </a:rPr>
              <a:t>สอดคล้องกับ PDPA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039112"/>
            <a:ext cx="329184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OneMember สร้างขึ้นสำหรับ PDPA ของไทย
เราเก็บเฉพาะสิ่งที่จำเป็น ไม่มีอะไรเพิ่ม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463040"/>
            <a:ext cx="3657600" cy="1463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463040"/>
            <a:ext cx="5080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002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Tahoma"/>
              </a:rPr>
              <a:t>คุณเป็นเจ้าของสมาชิก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8" y="2039112"/>
            <a:ext cx="329184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214884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รายชื่อสมาชิกเป็นของคุณ เราไม่เคยแชร์ ขาย
หรือใช้ข้อมูลลูกค้าเพื่อวัตถุประสงค์อื่นใด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463040"/>
            <a:ext cx="3657600" cy="1463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1463040"/>
            <a:ext cx="5080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6002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Tahoma"/>
              </a:rPr>
              <a:t>เก็บในประเทศไทย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1896" y="2039112"/>
            <a:ext cx="329184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14884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ข้อมูลทั้งหมดเก็บบนเซิร์ฟเวอร์ในประเทศไทย
สอดคล้องกับข้อกำหนดการเก็บข้อมูลในท้องถิ่น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090672"/>
            <a:ext cx="3657600" cy="1463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090672"/>
            <a:ext cx="5080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278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Tahoma"/>
              </a:rPr>
              <a:t>ลูกค้าควบคุมข้อมูลตัวเอง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666744"/>
            <a:ext cx="329184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764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สมาชิกสามารถดู อัปเดต หรือลบข้อมูลได้ตลอดเวลา
ความยินยอมชัดเจนและมีการบันทึกเสมอ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3090672"/>
            <a:ext cx="3657600" cy="1463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0248" y="3090672"/>
            <a:ext cx="5080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32278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Tahoma"/>
              </a:rPr>
              <a:t>เราคือเครื่องมือ ไม่ใช่พันธมิตร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53128" y="3666744"/>
            <a:ext cx="329184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37764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OneMember ไม่ได้แข่งขันกับคุณ
เราไม่ทำการตลาดกับลูกค้าของคุณ เราให้บริการคุณ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0116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ahoma"/>
              </a:rPr>
              <a:t>หน้าต่างกำลังปิดลง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005840"/>
            <a:ext cx="10058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CCDD"/>
                </a:solidFill>
                <a:latin typeface="Tahoma"/>
              </a:rPr>
              <a:t>ธุรกิจในพื้นที่ของคุณกำลัง
สร้างฐานข้อมูลสมาชิกอยู่แล้ว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828800"/>
            <a:ext cx="11430000" cy="1270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2011680"/>
            <a:ext cx="3749039" cy="228600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011680"/>
            <a:ext cx="3749039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342899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Tahoma"/>
              </a:rPr>
              <a:t>ทุกสัปดาห์
ที่ไม่มี OneMember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80360"/>
            <a:ext cx="3383279" cy="12700"/>
          </a:xfrm>
          <a:prstGeom prst="rect">
            <a:avLst/>
          </a:prstGeom>
          <a:solidFill>
            <a:srgbClr val="35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34289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0F4"/>
                </a:solidFill>
                <a:latin typeface="Tahoma"/>
              </a:rPr>
              <a:t>คือสัปดาห์ของความสัมพันธ์กับลูกค้า
ที่คุณจะไม่มีวันได้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399" y="2011680"/>
            <a:ext cx="3749039" cy="228600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399" y="2011680"/>
            <a:ext cx="3749039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2176272"/>
            <a:ext cx="342899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Tahoma"/>
              </a:rPr>
              <a:t>ทุกลูกค้า
ที่ไม่ได้สมัคร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79" y="2880360"/>
            <a:ext cx="3383279" cy="12700"/>
          </a:xfrm>
          <a:prstGeom prst="rect">
            <a:avLst/>
          </a:prstGeom>
          <a:solidFill>
            <a:srgbClr val="35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3017520"/>
            <a:ext cx="34289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0F4"/>
                </a:solidFill>
                <a:latin typeface="Tahoma"/>
              </a:rPr>
              <a:t>คือลูกค้าที่คู่แข่งของคุณสามารถ
เข้าถึงได้ — แต่คุณทำไม่ได้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18" y="2011680"/>
            <a:ext cx="3749039" cy="228600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8" y="2011680"/>
            <a:ext cx="3749039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198" y="2176272"/>
            <a:ext cx="342899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Tahoma"/>
              </a:rPr>
              <a:t>ผู้ที่เริ่มก่อน
ในพื้นที่ของคุณ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198" y="2880360"/>
            <a:ext cx="3383279" cy="12700"/>
          </a:xfrm>
          <a:prstGeom prst="rect">
            <a:avLst/>
          </a:prstGeom>
          <a:solidFill>
            <a:srgbClr val="35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8" y="3017520"/>
            <a:ext cx="34289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0F4"/>
                </a:solidFill>
                <a:latin typeface="Tahoma"/>
              </a:rPr>
              <a:t>จะได้เปรียบด้านความภักดี
ที่แทบเป็นไปไม่ได้ที่จะพลิกกลับ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526280"/>
            <a:ext cx="11430000" cy="1270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" y="4681728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Tahoma"/>
              </a:rPr>
              <a:t>ความได้เปรียบด้านความภักดีสะสมตามเวลา
เวลาที่ดีที่สุดในการเริ่มคือปีที่แล้ว
เวลาที่ดีที่สุดอันดับสองคือวันนี้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28600"/>
            <a:ext cx="10058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ahoma"/>
              </a:rPr>
              <a:t>การตัดสินใจที่ง่ายที่สุด
ที่คุณจะทำวันนี้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Tahoma"/>
              </a:rPr>
              <a:t>ไม่มีสัญญา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58568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รายเดือน ยกเลิกได้ตลอดเวลา
ไม่มีคำถามใด 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600200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600200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7647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78308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Tahoma"/>
              </a:rPr>
              <a:t>ตั้งค่าใน 10 นาที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258568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37744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เราพาคุณผ่านขั้นตอน
สมาชิกแรกของคุณวันนี้เลย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600200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1600200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7647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656" y="178308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Tahoma"/>
              </a:rPr>
              <a:t>ค่าบริการรายเดือนคงที่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6176" y="2258568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37744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฿1,990 ต่อเดือน
ไม่มีค่าต่อธุรกรรม ไม่มีเซอร์ไพรส์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502152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502152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66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6850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Tahoma"/>
              </a:rPr>
              <a:t>Onboarding ฟรี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60520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79392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เราตั้งค่าโปรแกรมร่วมกับคุณ
QR Code ของคุณพร้อมก่อนที่คุณจะออกไป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0248" y="3502152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0248" y="3502152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3666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36850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Tahoma"/>
              </a:rPr>
              <a:t>รับประกัน 30 วัน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07408" y="4160520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4279392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ถ้าไม่เห็นผลใน 30 วัน
เราคืนเงินเดือนแรกให้คุณ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9016" y="3502152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9016" y="3502152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6" y="3666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7656" y="36850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Tahoma"/>
              </a:rPr>
              <a:t>สมาชิกแรกของคุณ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66176" y="4160520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6" y="4279392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พาลูกค้ามาหนึ่งคนขณะที่ผมยังอยู่
ให้เราลงทะเบียนด้วยกันตอนนี้เลย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15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743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1585"/>
                </a:solidFill>
                <a:latin typeface="Arial"/>
              </a:rPr>
              <a:t>one</a:t>
            </a:r>
            <a:r>
              <a:rPr sz="18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Tahoma"/>
              </a:rPr>
              <a:t>มาเริ่มต้น
ตอนนี้เลย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E0F0"/>
                </a:solidFill>
                <a:latin typeface="Tahoma"/>
              </a:rPr>
              <a:t>สมาชิกแรกของคุณสามารถเข้าร่วมได้ใน 5 นาทีข้างหน้า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337560"/>
            <a:ext cx="8503920" cy="12700"/>
          </a:xfrm>
          <a:prstGeom prst="rect">
            <a:avLst/>
          </a:prstGeom>
          <a:solidFill>
            <a:srgbClr val="FF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3566160"/>
            <a:ext cx="3200400" cy="201168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1585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879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ahoma"/>
              </a:rPr>
              <a:t>เปิดบัญชีของคุณ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4754880"/>
            <a:ext cx="22860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91947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0F4"/>
                </a:solidFill>
                <a:latin typeface="Tahoma"/>
              </a:rPr>
              <a:t>ใช้เวลา 5 นาที
เราทำด้วยกัน ตอนนี้เลย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566160"/>
            <a:ext cx="3200400" cy="201168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703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1585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1879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ahoma"/>
              </a:rPr>
              <a:t>ตั้งค่าโปรแกรม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4754880"/>
            <a:ext cx="22860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91947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0F4"/>
                </a:solidFill>
                <a:latin typeface="Tahoma"/>
              </a:rPr>
              <a:t>เลือกรางวัลของคุณ
เราตั้งค่าให้คุณ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66160"/>
            <a:ext cx="3200400" cy="201168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703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1585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1879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ahoma"/>
              </a:rPr>
              <a:t>สมาชิกแรก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4754880"/>
            <a:ext cx="22860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91947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0F4"/>
                </a:solidFill>
                <a:latin typeface="Tahoma"/>
              </a:rPr>
              <a:t>โทรหาลูกค้าหนึ่งคน
สแกน QR เสร็จแล้ว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008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onemember.app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