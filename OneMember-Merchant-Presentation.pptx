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 snapToObjects="1">
      <p:cViewPr varScale="1">
        <p:scale>
          <a:sx n="120" d="100"/>
          <a:sy n="120" d="100"/>
        </p:scale>
        <p:origin x="800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736540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SLIDE 1 — TITLE  (Target: 1 min)</a:t>
            </a:r>
          </a:p>
          <a:p>
            <a:endParaRPr/>
          </a:p>
          <a:p>
            <a:r>
              <a:t>Open: "Thank you for giving us 20 minutes today."</a:t>
            </a:r>
          </a:p>
          <a:p>
            <a:endParaRPr/>
          </a:p>
          <a:p>
            <a:r>
              <a:t>OneMember is a merchant growth platform — not just a loyalty app. We give local businesses the tools that enterprise chains have always had.</a:t>
            </a:r>
          </a:p>
          <a:p>
            <a:endParaRPr/>
          </a:p>
          <a:p>
            <a:r>
              <a:t>Key talking points:</a:t>
            </a:r>
          </a:p>
          <a:p>
            <a:r>
              <a:t>• Already live, merchants in Thailand using it today</a:t>
            </a:r>
          </a:p>
          <a:p>
            <a:r>
              <a:t>• This is a conversation, not a pitch</a:t>
            </a:r>
          </a:p>
          <a:p>
            <a:r>
              <a:t>• ASK: "What loyalty or membership programme do you run today?"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SLIDE 2 — THE PROBLEM  (Target: 2 min)</a:t>
            </a:r>
          </a:p>
          <a:p>
            <a:endParaRPr/>
          </a:p>
          <a:p>
            <a:r>
              <a:t>Make the merchant feel understood before presenting a solution.</a:t>
            </a:r>
          </a:p>
          <a:p>
            <a:endParaRPr/>
          </a:p>
          <a:p>
            <a:r>
              <a:t>• Paper loyalty cards get lost, damaged, forgotten — merchant gains nothing</a:t>
            </a:r>
          </a:p>
          <a:p>
            <a:r>
              <a:t>• Without data, targeted promotions are impossible</a:t>
            </a:r>
          </a:p>
          <a:p>
            <a:r>
              <a:t>• Customer acquisition costs 5–7× more than retention</a:t>
            </a:r>
          </a:p>
          <a:p>
            <a:r>
              <a:t>• No automation = missed birthdays, no win-back campaigns</a:t>
            </a:r>
          </a:p>
          <a:p>
            <a:r>
              <a:t>• Competitors with digital loyalty gain measurable advantage</a:t>
            </a:r>
          </a:p>
          <a:p>
            <a:endParaRPr/>
          </a:p>
          <a:p>
            <a:r>
              <a:t>ASK: "How do you know which customers haven't been back in 3 months?"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SLIDE 3 — THE COST  (Target: 1 min)</a:t>
            </a:r>
          </a:p>
          <a:p>
            <a:endParaRPr/>
          </a:p>
          <a:p>
            <a:r>
              <a:t>Let the numbers breathe. Do not rush.</a:t>
            </a:r>
          </a:p>
          <a:p>
            <a:endParaRPr/>
          </a:p>
          <a:p>
            <a:r>
              <a:t>• 5–7× more expensive to acquire a new customer vs. retain one</a:t>
            </a:r>
          </a:p>
          <a:p>
            <a:r>
              <a:t>• Repeat customers spend 67% more than new customers on average</a:t>
            </a:r>
          </a:p>
          <a:p>
            <a:r>
              <a:t>• 5% increase in retention can drive 25–95% profit increase (Bain &amp; Co)</a:t>
            </a:r>
          </a:p>
          <a:p>
            <a:endParaRPr/>
          </a:p>
          <a:p>
            <a:r>
              <a:t>Make retention feel like the highest-ROI activity in the room.</a:t>
            </a:r>
          </a:p>
          <a:p>
            <a:endParaRPr/>
          </a:p>
          <a:p>
            <a:r>
              <a:t>ASK: "If you could bring back 20% of lapsed customers, what would that mean?"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SLIDE 4 — INTRODUCING ONEMEMBER  (Target: 2 min)</a:t>
            </a:r>
          </a:p>
          <a:p>
            <a:endParaRPr/>
          </a:p>
          <a:p>
            <a:r>
              <a:t>Five pillars — ACQUIRE, RETAIN, REWARD, UNDERSTAND, GROW.</a:t>
            </a:r>
          </a:p>
          <a:p>
            <a:endParaRPr/>
          </a:p>
          <a:p>
            <a:r>
              <a:t>• ACQUIRE — QR scan, digital membership, zero friction</a:t>
            </a:r>
          </a:p>
          <a:p>
            <a:r>
              <a:t>• RETAIN — birthday rewards, expiry reminders, win-back triggers</a:t>
            </a:r>
          </a:p>
          <a:p>
            <a:r>
              <a:t>• REWARD — points, stamps, custom redemptions</a:t>
            </a:r>
          </a:p>
          <a:p>
            <a:r>
              <a:t>• UNDERSTAND — member demographics, visit frequency, spend patterns</a:t>
            </a:r>
          </a:p>
          <a:p>
            <a:r>
              <a:t>• GROW — data-driven campaigns, segment targeting</a:t>
            </a:r>
          </a:p>
          <a:p>
            <a:endParaRPr/>
          </a:p>
          <a:p>
            <a:r>
              <a:t>Positioning: "We are not a loyalty app. We are a merchant growth platform."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SLIDE 5 — MERCHANT JOURNEY  (Target: 2 min)</a:t>
            </a:r>
          </a:p>
          <a:p>
            <a:endParaRPr/>
          </a:p>
          <a:p>
            <a:r>
              <a:t>Walk each step. Make it feel achievable.</a:t>
            </a:r>
          </a:p>
          <a:p>
            <a:endParaRPr/>
          </a:p>
          <a:p>
            <a:r>
              <a:t>1. Register — 5 minutes, no contract</a:t>
            </a:r>
          </a:p>
          <a:p>
            <a:r>
              <a:t>2. Campaign — set up points, stamps, or hybrid programme</a:t>
            </a:r>
          </a:p>
          <a:p>
            <a:r>
              <a:t>3. Members — customers scan QR code and join instantly</a:t>
            </a:r>
          </a:p>
          <a:p>
            <a:r>
              <a:t>4. Rewards — configure what members earn and redeem</a:t>
            </a:r>
          </a:p>
          <a:p>
            <a:r>
              <a:t>5. Track — real-time dashboard: members, redemptions, revenue</a:t>
            </a:r>
          </a:p>
          <a:p>
            <a:r>
              <a:t>6. Grow — use insights to run targeted campaigns and win-backs</a:t>
            </a:r>
          </a:p>
          <a:p>
            <a:endParaRPr/>
          </a:p>
          <a:p>
            <a:r>
              <a:t>ASK: "Which step feels most valuable for your business right now?"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SLIDE 6 — CUSTOMER JOURNEY  (Target: 1 min)</a:t>
            </a:r>
          </a:p>
          <a:p>
            <a:endParaRPr/>
          </a:p>
          <a:p>
            <a:r>
              <a:t>Customer sign-up is designed to take under 30 seconds.</a:t>
            </a:r>
          </a:p>
          <a:p>
            <a:endParaRPr/>
          </a:p>
          <a:p>
            <a:r>
              <a:t>1. Visit — customer arrives</a:t>
            </a:r>
          </a:p>
          <a:p>
            <a:r>
              <a:t>2. Scan — one QR code on their phone</a:t>
            </a:r>
          </a:p>
          <a:p>
            <a:r>
              <a:t>3. Share — first name and phone only (no app download)</a:t>
            </a:r>
          </a:p>
          <a:p>
            <a:r>
              <a:t>4. Join — enrolled instantly, first points applied immediately</a:t>
            </a:r>
          </a:p>
          <a:p>
            <a:r>
              <a:t>5. Earn — every visit earns points or stamps</a:t>
            </a:r>
          </a:p>
          <a:p>
            <a:r>
              <a:t>6. Redeem — exchange for rewards the merchant defines</a:t>
            </a:r>
          </a:p>
          <a:p>
            <a:r>
              <a:t>7. Return — rewards drive repeat visits</a:t>
            </a:r>
          </a:p>
          <a:p>
            <a:endParaRPr/>
          </a:p>
          <a:p>
            <a:r>
              <a:t>North Star: "A customer can join in under 30 seconds."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SLIDE 7 — COMPARISON  (Target: 2 min)</a:t>
            </a:r>
          </a:p>
          <a:p>
            <a:endParaRPr/>
          </a:p>
          <a:p>
            <a:r>
              <a:t>Handle objections before they arise.</a:t>
            </a:r>
          </a:p>
          <a:p>
            <a:endParaRPr/>
          </a:p>
          <a:p>
            <a:r>
              <a:t>Traditional: paper cards lost, no data, manual tracking, no automation, no analytics, high setup cost.</a:t>
            </a:r>
          </a:p>
          <a:p>
            <a:endParaRPr/>
          </a:p>
          <a:p>
            <a:r>
              <a:t>OneMember: digital on any phone, full profile from first scan, automatic tracking, automated birthday + win-back, real-time dashboard, affordable flat fee.</a:t>
            </a:r>
          </a:p>
          <a:p>
            <a:endParaRPr/>
          </a:p>
          <a:p>
            <a:r>
              <a:t>ASK: "If you could see every customer's visit history in one screen, how would that change the way you run promotions?"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SLIDE 8 — MERCHANT BENEFITS  (Target: 1 min)</a:t>
            </a:r>
          </a:p>
          <a:p>
            <a:endParaRPr/>
          </a:p>
          <a:p>
            <a:r>
              <a:t>Connect each benefit to a pain point.</a:t>
            </a:r>
          </a:p>
          <a:p>
            <a:endParaRPr/>
          </a:p>
          <a:p>
            <a:r>
              <a:t>1. Grow member database automatically on every visit</a:t>
            </a:r>
          </a:p>
          <a:p>
            <a:r>
              <a:t>2. Know customers — demographics, frequency, spend</a:t>
            </a:r>
          </a:p>
          <a:p>
            <a:r>
              <a:t>3. Targeted promotions — right offer, right customer, right time</a:t>
            </a:r>
          </a:p>
          <a:p>
            <a:r>
              <a:t>4. Automate birthday + anniversary rewards (zero manual effort)</a:t>
            </a:r>
          </a:p>
          <a:p>
            <a:r>
              <a:t>5. Reduce reliance on blanket discounts</a:t>
            </a:r>
          </a:p>
          <a:p>
            <a:r>
              <a:t>6. One dashboard — members, transactions, rewards, reports</a:t>
            </a:r>
          </a:p>
          <a:p>
            <a:r>
              <a:t>7. Affordable flat monthly fee — no per-transaction costs</a:t>
            </a:r>
          </a:p>
          <a:p>
            <a:r>
              <a:t>8. Setup in under 10 minutes — no IT team needed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SLIDE 9 — CUSTOMER BENEFITS  (Target: 1 min)</a:t>
            </a:r>
          </a:p>
          <a:p>
            <a:endParaRPr/>
          </a:p>
          <a:p>
            <a:r>
              <a:t>A great customer experience drives merchant adoption.</a:t>
            </a:r>
          </a:p>
          <a:p>
            <a:endParaRPr/>
          </a:p>
          <a:p>
            <a:r>
              <a:t>1. No app download — runs in any mobile browser</a:t>
            </a:r>
          </a:p>
          <a:p>
            <a:r>
              <a:t>2. Join in under 30 seconds — name and phone only</a:t>
            </a:r>
          </a:p>
          <a:p>
            <a:r>
              <a:t>3. Earn automatically on every visit</a:t>
            </a:r>
          </a:p>
          <a:p>
            <a:r>
              <a:t>4. Instant redemption at the counter</a:t>
            </a:r>
          </a:p>
          <a:p>
            <a:r>
              <a:t>5. Birthday rewards — delivered automatically</a:t>
            </a:r>
          </a:p>
          <a:p>
            <a:r>
              <a:t>6. Privacy-first — minimal data collection</a:t>
            </a:r>
          </a:p>
          <a:p>
            <a:r>
              <a:t>7. Works at every location of the business</a:t>
            </a:r>
          </a:p>
          <a:p>
            <a:r>
              <a:t>8. Digital card — can never be lost or forgotten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SLIDE 10 — INTELLIGENCE  (Target: 1 min)</a:t>
            </a:r>
          </a:p>
          <a:p>
            <a:endParaRPr/>
          </a:p>
          <a:p>
            <a:r>
              <a:t>Position as the near-future state — Phase 2 roadmap.</a:t>
            </a:r>
          </a:p>
          <a:p>
            <a:endParaRPr/>
          </a:p>
          <a:p>
            <a:r>
              <a:t>"Right now you get a clear dashboard. In the next phase, OneMember adds intelligence on top of your data."</a:t>
            </a:r>
          </a:p>
          <a:p>
            <a:endParaRPr/>
          </a:p>
          <a:p>
            <a:r>
              <a:t>Coming capabilities:</a:t>
            </a:r>
          </a:p>
          <a:p>
            <a:r>
              <a:t>• Churn prediction — at-risk customers before they stop coming</a:t>
            </a:r>
          </a:p>
          <a:p>
            <a:r>
              <a:t>• Campaign analytics — which promotions drive revenue</a:t>
            </a:r>
          </a:p>
          <a:p>
            <a:r>
              <a:t>• Spend segmentation — top 20% of customers = 80% of revenue</a:t>
            </a:r>
          </a:p>
          <a:p>
            <a:r>
              <a:t>• Visit frequency heat maps — best days for campaigns</a:t>
            </a:r>
          </a:p>
          <a:p>
            <a:r>
              <a:t>• Win-back automation — offer triggers at 30-day lapse</a:t>
            </a:r>
          </a:p>
          <a:p>
            <a:r>
              <a:t>• Revenue attribution — campaign ROI tracked directly</a:t>
            </a:r>
          </a:p>
          <a:p>
            <a:endParaRPr/>
          </a:p>
          <a:p>
            <a:r>
              <a:t>"We are building the CRM that local businesses have never had."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SLIDE 11 — ROADMAP  (Target: 1 min)</a:t>
            </a:r>
          </a:p>
          <a:p>
            <a:endParaRPr/>
          </a:p>
          <a:p>
            <a:r>
              <a:t>Direction, not promises. Brief.</a:t>
            </a:r>
          </a:p>
          <a:p>
            <a:endParaRPr/>
          </a:p>
          <a:p>
            <a:r>
              <a:t>Phase 1 (Now): Merchant loyalty — membership, rewards, campaigns, analytics</a:t>
            </a:r>
          </a:p>
          <a:p>
            <a:r>
              <a:t>Phase 2: Customer Wallet — unified loyalty app for customers</a:t>
            </a:r>
          </a:p>
          <a:p>
            <a:r>
              <a:t>Phase 3: Commerce — buy/sell within the OneMember ecosystem</a:t>
            </a:r>
          </a:p>
          <a:p>
            <a:r>
              <a:t>Phase 4: POS Integration — connect or replace point-of-sale</a:t>
            </a:r>
          </a:p>
          <a:p>
            <a:r>
              <a:t>Phase 5: Inventory — smart inventory linked to loyalty data</a:t>
            </a:r>
          </a:p>
          <a:p>
            <a:r>
              <a:t>Phase 6: Accounting — link loyalty and sales to accounting</a:t>
            </a:r>
          </a:p>
          <a:p>
            <a:r>
              <a:t>Phase 7: AI — personalised recommendations, predictive analytics</a:t>
            </a:r>
          </a:p>
          <a:p>
            <a:r>
              <a:t>Phase 8: Regional — expand beyond Thailand to Southeast Asia</a:t>
            </a:r>
          </a:p>
          <a:p>
            <a:endParaRPr/>
          </a:p>
          <a:p>
            <a:r>
              <a:t>"We are building the operating system for local business."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SLIDE 12 — WHY DIFFERENT  (Target: 1 min)</a:t>
            </a:r>
          </a:p>
          <a:p>
            <a:endParaRPr/>
          </a:p>
          <a:p>
            <a:r>
              <a:t>Close the story. Six real differentiators.</a:t>
            </a:r>
          </a:p>
          <a:p>
            <a:endParaRPr/>
          </a:p>
          <a:p>
            <a:r>
              <a:t>1. Merchant-first — built for growth, not an app store rating</a:t>
            </a:r>
          </a:p>
          <a:p>
            <a:r>
              <a:t>2. No app download — removes the #1 barrier to customer adoption</a:t>
            </a:r>
          </a:p>
          <a:p>
            <a:r>
              <a:t>3. Privacy by design — minimum data, maximum trust</a:t>
            </a:r>
          </a:p>
          <a:p>
            <a:r>
              <a:t>4. Thailand-first — Thai Baht, Thai language, local context built in</a:t>
            </a:r>
          </a:p>
          <a:p>
            <a:r>
              <a:t>5. SME pricing — enterprise tools at local business price points</a:t>
            </a:r>
          </a:p>
          <a:p>
            <a:r>
              <a:t>6. Built to scale — one outlet to a full chain, same platform</a:t>
            </a:r>
          </a:p>
          <a:p>
            <a:endParaRPr/>
          </a:p>
          <a:p>
            <a:r>
              <a:t>"We built this for merchants like you."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SLIDE 13 — CALL TO ACTION  (Target: 1 min)</a:t>
            </a:r>
          </a:p>
          <a:p>
            <a:endParaRPr/>
          </a:p>
          <a:p>
            <a:r>
              <a:t>Close with three clear options.</a:t>
            </a:r>
          </a:p>
          <a:p>
            <a:endParaRPr/>
          </a:p>
          <a:p>
            <a:r>
              <a:t>A. Start Today — open a laptop, register right now. Takes 5 minutes.</a:t>
            </a:r>
          </a:p>
          <a:p>
            <a:r>
              <a:t>B. See a Demo — 15-minute live walkthrough: register, campaign, customer scan.</a:t>
            </a:r>
          </a:p>
          <a:p>
            <a:r>
              <a:t>C. Take Home — one-page summary, follow-up within 48 hours.</a:t>
            </a:r>
          </a:p>
          <a:p>
            <a:endParaRPr/>
          </a:p>
          <a:p>
            <a:r>
              <a:t>RULE: Never leave without a next step — a date, a time, a commitment.</a:t>
            </a:r>
          </a:p>
          <a:p>
            <a:endParaRPr/>
          </a:p>
          <a:p>
            <a:r>
              <a:t>ASK: "Which of these three makes the most sense for you today?"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C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F1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188720" y="987552"/>
            <a:ext cx="54864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200" b="1" dirty="0" err="1">
                <a:solidFill>
                  <a:srgbClr val="FF1585"/>
                </a:solidFill>
                <a:latin typeface="Arial"/>
              </a:rPr>
              <a:t>one</a:t>
            </a:r>
            <a:r>
              <a:rPr sz="7200" b="1" dirty="0" err="1">
                <a:solidFill>
                  <a:srgbClr val="FFFFFF"/>
                </a:solidFill>
                <a:latin typeface="Arial"/>
              </a:rPr>
              <a:t>member</a:t>
            </a:r>
            <a:endParaRPr sz="7200" b="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1463040" y="2084832"/>
            <a:ext cx="1280160" cy="38100"/>
          </a:xfrm>
          <a:prstGeom prst="rect">
            <a:avLst/>
          </a:prstGeom>
          <a:solidFill>
            <a:srgbClr val="FF1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907792" y="2039112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64748B"/>
                </a:solidFill>
                <a:latin typeface="Arial"/>
              </a:rPr>
              <a:t>Tap to join</a:t>
            </a:r>
          </a:p>
        </p:txBody>
      </p:sp>
      <p:sp>
        <p:nvSpPr>
          <p:cNvPr id="6" name="Rectangle 5"/>
          <p:cNvSpPr/>
          <p:nvPr/>
        </p:nvSpPr>
        <p:spPr>
          <a:xfrm>
            <a:off x="1463040" y="2514600"/>
            <a:ext cx="7772400" cy="12700"/>
          </a:xfrm>
          <a:prstGeom prst="rect">
            <a:avLst/>
          </a:prstGeom>
          <a:solidFill>
            <a:srgbClr val="2A3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463040" y="26974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0F0F4"/>
                </a:solidFill>
                <a:latin typeface="Arial"/>
              </a:rPr>
              <a:t>The Merchant Growth Platform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32461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Reward Loyalty.  Grow Your Business.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463040" y="4297680"/>
            <a:ext cx="2286000" cy="411480"/>
          </a:xfrm>
          <a:prstGeom prst="roundRect">
            <a:avLst/>
          </a:prstGeom>
          <a:solidFill>
            <a:srgbClr val="1A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463040" y="4315968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0F0F4"/>
                </a:solidFill>
                <a:latin typeface="Arial"/>
              </a:rPr>
              <a:t>Digital Membership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931920" y="4297680"/>
            <a:ext cx="2286000" cy="411480"/>
          </a:xfrm>
          <a:prstGeom prst="roundRect">
            <a:avLst/>
          </a:prstGeom>
          <a:solidFill>
            <a:srgbClr val="1A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931920" y="4315968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0F0F4"/>
                </a:solidFill>
                <a:latin typeface="Arial"/>
              </a:rPr>
              <a:t>Automated Rewards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0" y="4297680"/>
            <a:ext cx="2286000" cy="411480"/>
          </a:xfrm>
          <a:prstGeom prst="roundRect">
            <a:avLst/>
          </a:prstGeom>
          <a:solidFill>
            <a:srgbClr val="1A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00800" y="4315968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0F0F4"/>
                </a:solidFill>
                <a:latin typeface="Arial"/>
              </a:rPr>
              <a:t>Real-Time Analytics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869680" y="4297680"/>
            <a:ext cx="2286000" cy="411480"/>
          </a:xfrm>
          <a:prstGeom prst="roundRect">
            <a:avLst/>
          </a:prstGeom>
          <a:solidFill>
            <a:srgbClr val="1A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869680" y="4315968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0F0F4"/>
                </a:solidFill>
                <a:latin typeface="Arial"/>
              </a:rPr>
              <a:t>Thailand-First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59436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Arial"/>
              </a:rPr>
              <a:t>onemember.app  |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3200400" cy="6858000"/>
          </a:xfrm>
          <a:prstGeom prst="rect">
            <a:avLst/>
          </a:prstGeom>
          <a:solidFill>
            <a:srgbClr val="0F1C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F1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01168" y="457200"/>
            <a:ext cx="54864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FF1585"/>
                </a:solidFill>
                <a:latin typeface="Arial"/>
              </a:rPr>
              <a:t>one</a:t>
            </a:r>
            <a:r>
              <a:rPr sz="2200" b="1">
                <a:solidFill>
                  <a:srgbClr val="FFFFFF"/>
                </a:solidFill>
                <a:latin typeface="Arial"/>
              </a:rPr>
              <a:t>member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" y="1188720"/>
            <a:ext cx="7315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1585"/>
                </a:solidFill>
                <a:latin typeface="Arial"/>
              </a:rPr>
              <a:t>THE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" y="1691640"/>
            <a:ext cx="28346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0" b="1" i="0">
                <a:solidFill>
                  <a:srgbClr val="FF1585"/>
                </a:solidFill>
                <a:latin typeface="Arial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" y="3337560"/>
            <a:ext cx="28346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0F0F4"/>
                </a:solidFill>
                <a:latin typeface="Arial"/>
              </a:rPr>
              <a:t>pain points every
local business
faces today.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" y="594360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1585"/>
                </a:solidFill>
                <a:latin typeface="Arial"/>
              </a:rPr>
              <a:t>OneMember solves all six.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29000" y="256032"/>
            <a:ext cx="2697480" cy="2606040"/>
          </a:xfrm>
          <a:prstGeom prst="roundRect">
            <a:avLst/>
          </a:prstGeom>
          <a:solidFill>
            <a:srgbClr val="F0F0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429000" y="256032"/>
            <a:ext cx="50800" cy="2606040"/>
          </a:xfrm>
          <a:prstGeom prst="rect">
            <a:avLst/>
          </a:prstGeom>
          <a:solidFill>
            <a:srgbClr val="FF1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611880" y="438912"/>
            <a:ext cx="244144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E5A"/>
                </a:solidFill>
                <a:latin typeface="Arial"/>
              </a:rPr>
              <a:t>Paper Loyalty Cards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11880" y="914400"/>
            <a:ext cx="2331720" cy="12700"/>
          </a:xfrm>
          <a:prstGeom prst="rect">
            <a:avLst/>
          </a:prstGeom>
          <a:solidFill>
            <a:srgbClr val="E8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611880" y="1033272"/>
            <a:ext cx="2441448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Arial"/>
              </a:rPr>
              <a:t>Get lost, damaged, or forgotten.
Merchants gain nothing from them.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91072" y="256032"/>
            <a:ext cx="2697480" cy="2606040"/>
          </a:xfrm>
          <a:prstGeom prst="roundRect">
            <a:avLst/>
          </a:prstGeom>
          <a:solidFill>
            <a:srgbClr val="F0F0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291072" y="256032"/>
            <a:ext cx="50800" cy="2606040"/>
          </a:xfrm>
          <a:prstGeom prst="rect">
            <a:avLst/>
          </a:prstGeom>
          <a:solidFill>
            <a:srgbClr val="FF1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73952" y="438912"/>
            <a:ext cx="244144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E5A"/>
                </a:solidFill>
                <a:latin typeface="Arial"/>
              </a:rPr>
              <a:t>No Customer Data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73952" y="914400"/>
            <a:ext cx="2331720" cy="12700"/>
          </a:xfrm>
          <a:prstGeom prst="rect">
            <a:avLst/>
          </a:prstGeom>
          <a:solidFill>
            <a:srgbClr val="E8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73952" y="1033272"/>
            <a:ext cx="2441448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Arial"/>
              </a:rPr>
              <a:t>You serve hundreds of people
but you don't know any of them.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53144" y="256032"/>
            <a:ext cx="2697480" cy="2606040"/>
          </a:xfrm>
          <a:prstGeom prst="roundRect">
            <a:avLst/>
          </a:prstGeom>
          <a:solidFill>
            <a:srgbClr val="F0F0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9153144" y="256032"/>
            <a:ext cx="50800" cy="2606040"/>
          </a:xfrm>
          <a:prstGeom prst="rect">
            <a:avLst/>
          </a:prstGeom>
          <a:solidFill>
            <a:srgbClr val="FF1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336024" y="438912"/>
            <a:ext cx="244144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E5A"/>
                </a:solidFill>
                <a:latin typeface="Arial"/>
              </a:rPr>
              <a:t>Costly Acquisition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36024" y="914400"/>
            <a:ext cx="2331720" cy="12700"/>
          </a:xfrm>
          <a:prstGeom prst="rect">
            <a:avLst/>
          </a:prstGeom>
          <a:solidFill>
            <a:srgbClr val="E8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336024" y="1033272"/>
            <a:ext cx="2441448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Arial"/>
              </a:rPr>
              <a:t>New customers cost 5–7×
more than retention.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429000" y="2999232"/>
            <a:ext cx="2697480" cy="2606040"/>
          </a:xfrm>
          <a:prstGeom prst="roundRect">
            <a:avLst/>
          </a:prstGeom>
          <a:solidFill>
            <a:srgbClr val="F0F0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3429000" y="2999232"/>
            <a:ext cx="50800" cy="2606040"/>
          </a:xfrm>
          <a:prstGeom prst="rect">
            <a:avLst/>
          </a:prstGeom>
          <a:solidFill>
            <a:srgbClr val="FF1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3611880" y="3182112"/>
            <a:ext cx="244144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E5A"/>
                </a:solidFill>
                <a:latin typeface="Arial"/>
              </a:rPr>
              <a:t>No Automation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11880" y="3657600"/>
            <a:ext cx="2331720" cy="12700"/>
          </a:xfrm>
          <a:prstGeom prst="rect">
            <a:avLst/>
          </a:prstGeom>
          <a:solidFill>
            <a:srgbClr val="E8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3611880" y="3776472"/>
            <a:ext cx="2441448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Arial"/>
              </a:rPr>
              <a:t>Birthday offers, win-backs,
expiry reminders — all manual.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91072" y="2999232"/>
            <a:ext cx="2697480" cy="2606040"/>
          </a:xfrm>
          <a:prstGeom prst="roundRect">
            <a:avLst/>
          </a:prstGeom>
          <a:solidFill>
            <a:srgbClr val="F0F0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6291072" y="2999232"/>
            <a:ext cx="50800" cy="2606040"/>
          </a:xfrm>
          <a:prstGeom prst="rect">
            <a:avLst/>
          </a:prstGeom>
          <a:solidFill>
            <a:srgbClr val="FF1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473952" y="3182112"/>
            <a:ext cx="244144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E5A"/>
                </a:solidFill>
                <a:latin typeface="Arial"/>
              </a:rPr>
              <a:t>Fragmented Tools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73952" y="3657600"/>
            <a:ext cx="2331720" cy="12700"/>
          </a:xfrm>
          <a:prstGeom prst="rect">
            <a:avLst/>
          </a:prstGeom>
          <a:solidFill>
            <a:srgbClr val="E8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473952" y="3776472"/>
            <a:ext cx="2441448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Arial"/>
              </a:rPr>
              <a:t>Spreadsheets, WhatsApp, paper.
No single source of truth.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153144" y="2999232"/>
            <a:ext cx="2697480" cy="2606040"/>
          </a:xfrm>
          <a:prstGeom prst="roundRect">
            <a:avLst/>
          </a:prstGeom>
          <a:solidFill>
            <a:srgbClr val="F0F0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9153144" y="2999232"/>
            <a:ext cx="50800" cy="2606040"/>
          </a:xfrm>
          <a:prstGeom prst="rect">
            <a:avLst/>
          </a:prstGeom>
          <a:solidFill>
            <a:srgbClr val="FF1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9336024" y="3182112"/>
            <a:ext cx="244144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E5A"/>
                </a:solidFill>
                <a:latin typeface="Arial"/>
              </a:rPr>
              <a:t>Competitor Gap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336024" y="3657600"/>
            <a:ext cx="2331720" cy="12700"/>
          </a:xfrm>
          <a:prstGeom prst="rect">
            <a:avLst/>
          </a:prstGeom>
          <a:solidFill>
            <a:srgbClr val="E8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9336024" y="3776472"/>
            <a:ext cx="2441448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Arial"/>
              </a:rPr>
              <a:t>Chains have digital loyalty.
Independents are falling behind.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C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1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7315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1585"/>
                </a:solidFill>
                <a:latin typeface="Arial"/>
              </a:rPr>
              <a:t>THE COST OF LOSING CUSTOMERS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4864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Arial"/>
              </a:rPr>
              <a:t>Retention is the highest-ROI
activity in your business.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874519"/>
            <a:ext cx="9144000" cy="12700"/>
          </a:xfrm>
          <a:prstGeom prst="rect">
            <a:avLst/>
          </a:prstGeom>
          <a:solidFill>
            <a:srgbClr val="2A3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420624" y="2103120"/>
            <a:ext cx="3657600" cy="4114800"/>
          </a:xfrm>
          <a:prstGeom prst="roundRect">
            <a:avLst/>
          </a:prstGeom>
          <a:solidFill>
            <a:srgbClr val="1A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20624" y="2423160"/>
            <a:ext cx="3657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0" b="1" i="0">
                <a:solidFill>
                  <a:srgbClr val="FF1585"/>
                </a:solidFill>
                <a:latin typeface="Arial"/>
              </a:rPr>
              <a:t>5–7×</a:t>
            </a:r>
          </a:p>
        </p:txBody>
      </p:sp>
      <p:sp>
        <p:nvSpPr>
          <p:cNvPr id="8" name="Rectangle 7"/>
          <p:cNvSpPr/>
          <p:nvPr/>
        </p:nvSpPr>
        <p:spPr>
          <a:xfrm>
            <a:off x="877824" y="4023360"/>
            <a:ext cx="2743200" cy="12700"/>
          </a:xfrm>
          <a:prstGeom prst="rect">
            <a:avLst/>
          </a:prstGeom>
          <a:solidFill>
            <a:srgbClr val="2A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20624" y="4251960"/>
            <a:ext cx="36576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0F0F4"/>
                </a:solidFill>
                <a:latin typeface="Arial"/>
              </a:rPr>
              <a:t>more expensive to
acquire a new customer
vs. retaining one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61104" y="2103120"/>
            <a:ext cx="3657600" cy="4114800"/>
          </a:xfrm>
          <a:prstGeom prst="roundRect">
            <a:avLst/>
          </a:prstGeom>
          <a:solidFill>
            <a:srgbClr val="1A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261104" y="2423160"/>
            <a:ext cx="3657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0" b="1" i="0">
                <a:solidFill>
                  <a:srgbClr val="FF1585"/>
                </a:solidFill>
                <a:latin typeface="Arial"/>
              </a:rPr>
              <a:t>67%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718304" y="4023360"/>
            <a:ext cx="2743200" cy="12700"/>
          </a:xfrm>
          <a:prstGeom prst="rect">
            <a:avLst/>
          </a:prstGeom>
          <a:solidFill>
            <a:srgbClr val="2A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261104" y="4251960"/>
            <a:ext cx="36576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0F0F4"/>
                </a:solidFill>
                <a:latin typeface="Arial"/>
              </a:rPr>
              <a:t>more revenue generated
by repeat customers vs.
first-time visitors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01584" y="2103120"/>
            <a:ext cx="3657600" cy="4114800"/>
          </a:xfrm>
          <a:prstGeom prst="roundRect">
            <a:avLst/>
          </a:prstGeom>
          <a:solidFill>
            <a:srgbClr val="1A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101584" y="2423160"/>
            <a:ext cx="3657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0" b="1" i="0">
                <a:solidFill>
                  <a:srgbClr val="FF1585"/>
                </a:solidFill>
                <a:latin typeface="Arial"/>
              </a:rPr>
              <a:t>25–95%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58784" y="4023360"/>
            <a:ext cx="2743200" cy="12700"/>
          </a:xfrm>
          <a:prstGeom prst="rect">
            <a:avLst/>
          </a:prstGeom>
          <a:solidFill>
            <a:srgbClr val="2A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101584" y="4251960"/>
            <a:ext cx="36576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0F0F4"/>
                </a:solidFill>
                <a:latin typeface="Arial"/>
              </a:rPr>
              <a:t>profit increase from just
a 5% improvement in
customer retention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465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64748B"/>
                </a:solidFill>
                <a:latin typeface="Arial"/>
              </a:rPr>
              <a:t>Sources: Bain &amp; Company · Harvard Business Review · Forbes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0"/>
          </a:xfrm>
          <a:prstGeom prst="rect">
            <a:avLst/>
          </a:prstGeom>
          <a:solidFill>
            <a:srgbClr val="0F1C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F1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01168" y="256032"/>
            <a:ext cx="7315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1585"/>
                </a:solidFill>
                <a:latin typeface="Arial"/>
              </a:rPr>
              <a:t>INTRODUCING ONEMEMBER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" y="566928"/>
            <a:ext cx="10058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The Merchant Growth Platform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" y="16916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64748B"/>
                </a:solidFill>
                <a:latin typeface="Arial"/>
              </a:rPr>
              <a:t>Five capabilities. One platform. Built for local business.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2148840"/>
            <a:ext cx="2240280" cy="4114800"/>
          </a:xfrm>
          <a:prstGeom prst="roundRect">
            <a:avLst/>
          </a:prstGeom>
          <a:solidFill>
            <a:srgbClr val="FF1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11480" y="2377440"/>
            <a:ext cx="2240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Arial"/>
              </a:rPr>
              <a:t>#1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743200"/>
            <a:ext cx="2240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rial"/>
              </a:rPr>
              <a:t>ACQUIRE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410712"/>
            <a:ext cx="1508760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21208" y="3611880"/>
            <a:ext cx="2020824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0F0F4"/>
                </a:solidFill>
                <a:latin typeface="Arial"/>
              </a:rPr>
              <a:t>QR scan membership in seconds.
No app download needed.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07208" y="2148840"/>
            <a:ext cx="2240280" cy="4114800"/>
          </a:xfrm>
          <a:prstGeom prst="roundRect">
            <a:avLst/>
          </a:prstGeom>
          <a:solidFill>
            <a:srgbClr val="0F1C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807208" y="2377440"/>
            <a:ext cx="2240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Arial"/>
              </a:rPr>
              <a:t>#2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07208" y="2743200"/>
            <a:ext cx="2240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rial"/>
              </a:rPr>
              <a:t>RETAIN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172968" y="3410712"/>
            <a:ext cx="1508760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2916936" y="3611880"/>
            <a:ext cx="2020824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0F0F4"/>
                </a:solidFill>
                <a:latin typeface="Arial"/>
              </a:rPr>
              <a:t>Birthday rewards, win-back triggers,
expiry reminders — automated.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202936" y="2148840"/>
            <a:ext cx="2240280" cy="4114800"/>
          </a:xfrm>
          <a:prstGeom prst="roundRect">
            <a:avLst/>
          </a:prstGeom>
          <a:solidFill>
            <a:srgbClr val="1A5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202936" y="2377440"/>
            <a:ext cx="2240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Arial"/>
              </a:rPr>
              <a:t>#3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02936" y="2743200"/>
            <a:ext cx="2240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rial"/>
              </a:rPr>
              <a:t>REWARD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568696" y="3410712"/>
            <a:ext cx="1508760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312664" y="3611880"/>
            <a:ext cx="2020824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0F0F4"/>
                </a:solidFill>
                <a:latin typeface="Arial"/>
              </a:rPr>
              <a:t>Points, stamps, custom redemptions.
Configured your way.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98664" y="2148840"/>
            <a:ext cx="2240280" cy="4114800"/>
          </a:xfrm>
          <a:prstGeom prst="roundRect">
            <a:avLst/>
          </a:prstGeom>
          <a:solidFill>
            <a:srgbClr val="3A2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598664" y="2377440"/>
            <a:ext cx="2240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Arial"/>
              </a:rPr>
              <a:t>#4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98664" y="2743200"/>
            <a:ext cx="2240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rial"/>
              </a:rPr>
              <a:t>UNDERSTAND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64424" y="3410712"/>
            <a:ext cx="1508760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708392" y="3611880"/>
            <a:ext cx="2020824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0F0F4"/>
                </a:solidFill>
                <a:latin typeface="Arial"/>
              </a:rPr>
              <a:t>Demographics, visit frequency,
spend patterns — all visible.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994392" y="2148840"/>
            <a:ext cx="2240280" cy="4114800"/>
          </a:xfrm>
          <a:prstGeom prst="roundRect">
            <a:avLst/>
          </a:prstGeom>
          <a:solidFill>
            <a:srgbClr val="5A2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994392" y="2377440"/>
            <a:ext cx="2240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Arial"/>
              </a:rPr>
              <a:t>#5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994392" y="2743200"/>
            <a:ext cx="2240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rial"/>
              </a:rPr>
              <a:t>GROW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360152" y="3410712"/>
            <a:ext cx="1508760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0104120" y="3611880"/>
            <a:ext cx="2020824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0F0F4"/>
                </a:solidFill>
                <a:latin typeface="Arial"/>
              </a:rPr>
              <a:t>Intelligence that turns data
into campaigns that convert.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0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0"/>
          </a:xfrm>
          <a:prstGeom prst="rect">
            <a:avLst/>
          </a:prstGeom>
          <a:solidFill>
            <a:srgbClr val="0F1C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F1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01168" y="256032"/>
            <a:ext cx="7315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1585"/>
                </a:solidFill>
                <a:latin typeface="Arial"/>
              </a:rPr>
              <a:t>YOUR JOURNEY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" y="566928"/>
            <a:ext cx="10058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From zero to a thriving membership programme.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" y="16916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4748B"/>
                </a:solidFill>
                <a:latin typeface="Arial"/>
              </a:rPr>
              <a:t>Everything you need. Set up in under 10 minutes.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920240"/>
            <a:ext cx="1828800" cy="3840480"/>
          </a:xfrm>
          <a:prstGeom prst="roundRect">
            <a:avLst/>
          </a:prstGeom>
          <a:solidFill>
            <a:srgbClr val="FF1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074420" y="2148840"/>
            <a:ext cx="502920" cy="5029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74420" y="2176272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1585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2816352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Register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3401568"/>
            <a:ext cx="1188720" cy="12700"/>
          </a:xfrm>
          <a:prstGeom prst="rect">
            <a:avLst/>
          </a:prstGeom>
          <a:solidFill>
            <a:srgbClr val="FF60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02920" y="3584448"/>
            <a:ext cx="16459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Arial"/>
              </a:rPr>
              <a:t>Sign up in
5 minutes.
No contract.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49424" y="3383280"/>
            <a:ext cx="137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1585"/>
                </a:solidFill>
                <a:latin typeface="Arial"/>
              </a:rP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377440" y="1920240"/>
            <a:ext cx="1828800" cy="3840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C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3040380" y="2148840"/>
            <a:ext cx="502920" cy="502920"/>
          </a:xfrm>
          <a:prstGeom prst="ellipse">
            <a:avLst/>
          </a:prstGeom>
          <a:solidFill>
            <a:srgbClr val="FF1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040380" y="2176272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7440" y="2816352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2E5A"/>
                </a:solidFill>
                <a:latin typeface="Arial"/>
              </a:rPr>
              <a:t>Campaign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697480" y="3401568"/>
            <a:ext cx="1188720" cy="12700"/>
          </a:xfrm>
          <a:prstGeom prst="rect">
            <a:avLst/>
          </a:prstGeom>
          <a:solidFill>
            <a:srgbClr val="E8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468880" y="3584448"/>
            <a:ext cx="16459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  <a:latin typeface="Arial"/>
              </a:rPr>
              <a:t>Design your
loyalty scheme —
points or stamps.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15384" y="3383280"/>
            <a:ext cx="137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1585"/>
                </a:solidFill>
                <a:latin typeface="Arial"/>
              </a:rPr>
              <a:t>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43400" y="1920240"/>
            <a:ext cx="1828800" cy="3840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C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5006340" y="2148840"/>
            <a:ext cx="502920" cy="502920"/>
          </a:xfrm>
          <a:prstGeom prst="ellipse">
            <a:avLst/>
          </a:prstGeom>
          <a:solidFill>
            <a:srgbClr val="FF1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006340" y="2176272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43400" y="2816352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2E5A"/>
                </a:solidFill>
                <a:latin typeface="Arial"/>
              </a:rPr>
              <a:t>Members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663440" y="3401568"/>
            <a:ext cx="1188720" cy="12700"/>
          </a:xfrm>
          <a:prstGeom prst="rect">
            <a:avLst/>
          </a:prstGeom>
          <a:solidFill>
            <a:srgbClr val="E8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434840" y="3584448"/>
            <a:ext cx="16459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  <a:latin typeface="Arial"/>
              </a:rPr>
              <a:t>Customers scan
your QR code
and join instantly.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81344" y="3383280"/>
            <a:ext cx="137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1585"/>
                </a:solidFill>
                <a:latin typeface="Arial"/>
              </a:rPr>
              <a:t>›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309360" y="1920240"/>
            <a:ext cx="1828800" cy="3840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C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6972300" y="2148840"/>
            <a:ext cx="502920" cy="502920"/>
          </a:xfrm>
          <a:prstGeom prst="ellipse">
            <a:avLst/>
          </a:prstGeom>
          <a:solidFill>
            <a:srgbClr val="FF1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972300" y="2176272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9360" y="2816352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2E5A"/>
                </a:solidFill>
                <a:latin typeface="Arial"/>
              </a:rPr>
              <a:t>Rewards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629400" y="3401568"/>
            <a:ext cx="1188720" cy="12700"/>
          </a:xfrm>
          <a:prstGeom prst="rect">
            <a:avLst/>
          </a:prstGeom>
          <a:solidFill>
            <a:srgbClr val="E8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400800" y="3584448"/>
            <a:ext cx="16459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  <a:latin typeface="Arial"/>
              </a:rPr>
              <a:t>Set what
members earn
and can redeem.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47304" y="3383280"/>
            <a:ext cx="137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1585"/>
                </a:solidFill>
                <a:latin typeface="Arial"/>
              </a:rPr>
              <a:t>›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275320" y="1920240"/>
            <a:ext cx="1828800" cy="3840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C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Oval 35"/>
          <p:cNvSpPr/>
          <p:nvPr/>
        </p:nvSpPr>
        <p:spPr>
          <a:xfrm>
            <a:off x="8938260" y="2148840"/>
            <a:ext cx="502920" cy="502920"/>
          </a:xfrm>
          <a:prstGeom prst="ellipse">
            <a:avLst/>
          </a:prstGeom>
          <a:solidFill>
            <a:srgbClr val="FF1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8938260" y="2176272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75320" y="2816352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2E5A"/>
                </a:solidFill>
                <a:latin typeface="Arial"/>
              </a:rPr>
              <a:t>Track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595360" y="3401568"/>
            <a:ext cx="1188720" cy="12700"/>
          </a:xfrm>
          <a:prstGeom prst="rect">
            <a:avLst/>
          </a:prstGeom>
          <a:solidFill>
            <a:srgbClr val="E8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8366760" y="3584448"/>
            <a:ext cx="16459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  <a:latin typeface="Arial"/>
              </a:rPr>
              <a:t>Real-time
dashboard of
activity &amp; revenue.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13264" y="3383280"/>
            <a:ext cx="137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1585"/>
                </a:solidFill>
                <a:latin typeface="Arial"/>
              </a:rPr>
              <a:t>›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241280" y="1920240"/>
            <a:ext cx="1828800" cy="3840480"/>
          </a:xfrm>
          <a:prstGeom prst="roundRect">
            <a:avLst/>
          </a:prstGeom>
          <a:solidFill>
            <a:srgbClr val="0F1C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Oval 42"/>
          <p:cNvSpPr/>
          <p:nvPr/>
        </p:nvSpPr>
        <p:spPr>
          <a:xfrm>
            <a:off x="10904220" y="2148840"/>
            <a:ext cx="502920" cy="502920"/>
          </a:xfrm>
          <a:prstGeom prst="ellipse">
            <a:avLst/>
          </a:prstGeom>
          <a:solidFill>
            <a:srgbClr val="FF1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10904220" y="2176272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241280" y="2816352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Grow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561320" y="3401568"/>
            <a:ext cx="1188720" cy="12700"/>
          </a:xfrm>
          <a:prstGeom prst="rect">
            <a:avLst/>
          </a:prstGeom>
          <a:solidFill>
            <a:srgbClr val="2A3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10332720" y="3584448"/>
            <a:ext cx="16459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0F0F4"/>
                </a:solidFill>
                <a:latin typeface="Arial"/>
              </a:rPr>
              <a:t>Insights fuel
targeted campaigns
and win-backs.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0"/>
          </a:xfrm>
          <a:prstGeom prst="rect">
            <a:avLst/>
          </a:prstGeom>
          <a:solidFill>
            <a:srgbClr val="FF1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F1C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01168" y="256032"/>
            <a:ext cx="7315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1585"/>
                </a:solidFill>
                <a:latin typeface="Arial"/>
              </a:rPr>
              <a:t>CUSTOMER EXPERIENCE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" y="566928"/>
            <a:ext cx="10058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Join in under 30 seconds. Earn on every visit.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" y="16916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E0F0"/>
                </a:solidFill>
                <a:latin typeface="Arial"/>
              </a:rPr>
              <a:t>No app download required. Works on any smartphone.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920240"/>
            <a:ext cx="1554480" cy="3840480"/>
          </a:xfrm>
          <a:prstGeom prst="roundRect">
            <a:avLst/>
          </a:prstGeom>
          <a:solidFill>
            <a:srgbClr val="F0F0F4"/>
          </a:solidFill>
          <a:ln w="12700">
            <a:solidFill>
              <a:srgbClr val="E8EC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923544" y="2121408"/>
            <a:ext cx="438912" cy="438912"/>
          </a:xfrm>
          <a:prstGeom prst="ellipse">
            <a:avLst/>
          </a:prstGeom>
          <a:solidFill>
            <a:srgbClr val="FF1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23544" y="2139696"/>
            <a:ext cx="43891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2724912"/>
            <a:ext cx="1554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2E5A"/>
                </a:solidFill>
                <a:latin typeface="Arial"/>
              </a:rPr>
              <a:t>Visit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4360" y="3291840"/>
            <a:ext cx="1097280" cy="12700"/>
          </a:xfrm>
          <a:prstGeom prst="rect">
            <a:avLst/>
          </a:prstGeom>
          <a:solidFill>
            <a:srgbClr val="E8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38912" y="3520440"/>
            <a:ext cx="1408176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4748B"/>
                </a:solidFill>
                <a:latin typeface="Arial"/>
              </a:rPr>
              <a:t>Customer
arrives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3383280"/>
            <a:ext cx="10972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1585"/>
                </a:solidFill>
                <a:latin typeface="Arial"/>
              </a:rP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011680" y="1920240"/>
            <a:ext cx="1554480" cy="3840480"/>
          </a:xfrm>
          <a:prstGeom prst="roundRect">
            <a:avLst/>
          </a:prstGeom>
          <a:solidFill>
            <a:srgbClr val="0F1C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2569464" y="2121408"/>
            <a:ext cx="438912" cy="438912"/>
          </a:xfrm>
          <a:prstGeom prst="ellipse">
            <a:avLst/>
          </a:prstGeom>
          <a:solidFill>
            <a:srgbClr val="FF1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2569464" y="2139696"/>
            <a:ext cx="43891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11680" y="2724912"/>
            <a:ext cx="1554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Scan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40280" y="3291840"/>
            <a:ext cx="1097280" cy="12700"/>
          </a:xfrm>
          <a:prstGeom prst="rect">
            <a:avLst/>
          </a:prstGeom>
          <a:solidFill>
            <a:srgbClr val="2A3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084832" y="3520440"/>
            <a:ext cx="1408176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0F0F4"/>
                </a:solidFill>
                <a:latin typeface="Arial"/>
              </a:rPr>
              <a:t>QR code
on phone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0" y="3383280"/>
            <a:ext cx="10972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1585"/>
                </a:solidFill>
                <a:latin typeface="Arial"/>
              </a:rPr>
              <a:t>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0" y="1920240"/>
            <a:ext cx="1554480" cy="3840480"/>
          </a:xfrm>
          <a:prstGeom prst="roundRect">
            <a:avLst/>
          </a:prstGeom>
          <a:solidFill>
            <a:srgbClr val="F0F0F4"/>
          </a:solidFill>
          <a:ln w="12700">
            <a:solidFill>
              <a:srgbClr val="E8EC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4215384" y="2121408"/>
            <a:ext cx="438912" cy="438912"/>
          </a:xfrm>
          <a:prstGeom prst="ellipse">
            <a:avLst/>
          </a:prstGeom>
          <a:solidFill>
            <a:srgbClr val="FF1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215384" y="2139696"/>
            <a:ext cx="43891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0" y="2724912"/>
            <a:ext cx="1554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2E5A"/>
                </a:solidFill>
                <a:latin typeface="Arial"/>
              </a:rPr>
              <a:t>Share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886200" y="3291840"/>
            <a:ext cx="1097280" cy="12700"/>
          </a:xfrm>
          <a:prstGeom prst="rect">
            <a:avLst/>
          </a:prstGeom>
          <a:solidFill>
            <a:srgbClr val="E8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3730752" y="3520440"/>
            <a:ext cx="1408176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4748B"/>
                </a:solidFill>
                <a:latin typeface="Arial"/>
              </a:rPr>
              <a:t>Name +
phone only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12080" y="3383280"/>
            <a:ext cx="10972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1585"/>
                </a:solidFill>
                <a:latin typeface="Arial"/>
              </a:rPr>
              <a:t>›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303520" y="1920240"/>
            <a:ext cx="1554480" cy="3840480"/>
          </a:xfrm>
          <a:prstGeom prst="roundRect">
            <a:avLst/>
          </a:prstGeom>
          <a:solidFill>
            <a:srgbClr val="0F1C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5861304" y="2121408"/>
            <a:ext cx="438912" cy="438912"/>
          </a:xfrm>
          <a:prstGeom prst="ellipse">
            <a:avLst/>
          </a:prstGeom>
          <a:solidFill>
            <a:srgbClr val="FF1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861304" y="2139696"/>
            <a:ext cx="43891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03520" y="2724912"/>
            <a:ext cx="1554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Join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532120" y="3291840"/>
            <a:ext cx="1097280" cy="12700"/>
          </a:xfrm>
          <a:prstGeom prst="rect">
            <a:avLst/>
          </a:prstGeom>
          <a:solidFill>
            <a:srgbClr val="2A3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376672" y="3520440"/>
            <a:ext cx="1408176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0F0F4"/>
                </a:solidFill>
                <a:latin typeface="Arial"/>
              </a:rPr>
              <a:t>Enrolled
instantly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0" y="3383280"/>
            <a:ext cx="10972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1585"/>
                </a:solidFill>
                <a:latin typeface="Arial"/>
              </a:rPr>
              <a:t>›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949440" y="1920240"/>
            <a:ext cx="1554480" cy="3840480"/>
          </a:xfrm>
          <a:prstGeom prst="roundRect">
            <a:avLst/>
          </a:prstGeom>
          <a:solidFill>
            <a:srgbClr val="F0F0F4"/>
          </a:solidFill>
          <a:ln w="12700">
            <a:solidFill>
              <a:srgbClr val="E8EC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Oval 35"/>
          <p:cNvSpPr/>
          <p:nvPr/>
        </p:nvSpPr>
        <p:spPr>
          <a:xfrm>
            <a:off x="7507224" y="2121408"/>
            <a:ext cx="438912" cy="438912"/>
          </a:xfrm>
          <a:prstGeom prst="ellipse">
            <a:avLst/>
          </a:prstGeom>
          <a:solidFill>
            <a:srgbClr val="FF1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7507224" y="2139696"/>
            <a:ext cx="43891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49440" y="2724912"/>
            <a:ext cx="1554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2E5A"/>
                </a:solidFill>
                <a:latin typeface="Arial"/>
              </a:rPr>
              <a:t>Earn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178040" y="3291840"/>
            <a:ext cx="1097280" cy="12700"/>
          </a:xfrm>
          <a:prstGeom prst="rect">
            <a:avLst/>
          </a:prstGeom>
          <a:solidFill>
            <a:srgbClr val="E8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7022592" y="3520440"/>
            <a:ext cx="1408176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4748B"/>
                </a:solidFill>
                <a:latin typeface="Arial"/>
              </a:rPr>
              <a:t>Points on
every visit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503920" y="3383280"/>
            <a:ext cx="10972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1585"/>
                </a:solidFill>
                <a:latin typeface="Arial"/>
              </a:rPr>
              <a:t>›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595360" y="1920240"/>
            <a:ext cx="1554480" cy="3840480"/>
          </a:xfrm>
          <a:prstGeom prst="roundRect">
            <a:avLst/>
          </a:prstGeom>
          <a:solidFill>
            <a:srgbClr val="F0F0F4"/>
          </a:solidFill>
          <a:ln w="12700">
            <a:solidFill>
              <a:srgbClr val="E8EC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Oval 42"/>
          <p:cNvSpPr/>
          <p:nvPr/>
        </p:nvSpPr>
        <p:spPr>
          <a:xfrm>
            <a:off x="9153144" y="2121408"/>
            <a:ext cx="438912" cy="438912"/>
          </a:xfrm>
          <a:prstGeom prst="ellipse">
            <a:avLst/>
          </a:prstGeom>
          <a:solidFill>
            <a:srgbClr val="FF1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9153144" y="2139696"/>
            <a:ext cx="43891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595360" y="2724912"/>
            <a:ext cx="1554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2E5A"/>
                </a:solidFill>
                <a:latin typeface="Arial"/>
              </a:rPr>
              <a:t>Redeem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823960" y="3291840"/>
            <a:ext cx="1097280" cy="12700"/>
          </a:xfrm>
          <a:prstGeom prst="rect">
            <a:avLst/>
          </a:prstGeom>
          <a:solidFill>
            <a:srgbClr val="E8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8668512" y="3520440"/>
            <a:ext cx="1408176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4748B"/>
                </a:solidFill>
                <a:latin typeface="Arial"/>
              </a:rPr>
              <a:t>Exchange
for rewards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149840" y="3383280"/>
            <a:ext cx="10972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1585"/>
                </a:solidFill>
                <a:latin typeface="Arial"/>
              </a:rPr>
              <a:t>›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0241280" y="1920240"/>
            <a:ext cx="1554480" cy="3840480"/>
          </a:xfrm>
          <a:prstGeom prst="roundRect">
            <a:avLst/>
          </a:prstGeom>
          <a:solidFill>
            <a:srgbClr val="0F1C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Oval 49"/>
          <p:cNvSpPr/>
          <p:nvPr/>
        </p:nvSpPr>
        <p:spPr>
          <a:xfrm>
            <a:off x="10799064" y="2121408"/>
            <a:ext cx="438912" cy="438912"/>
          </a:xfrm>
          <a:prstGeom prst="ellipse">
            <a:avLst/>
          </a:prstGeom>
          <a:solidFill>
            <a:srgbClr val="FF1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10799064" y="2139696"/>
            <a:ext cx="43891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241280" y="2724912"/>
            <a:ext cx="1554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Return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0469880" y="3291840"/>
            <a:ext cx="1097280" cy="12700"/>
          </a:xfrm>
          <a:prstGeom prst="rect">
            <a:avLst/>
          </a:prstGeom>
          <a:solidFill>
            <a:srgbClr val="2A3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10314432" y="3520440"/>
            <a:ext cx="1408176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0F0F4"/>
                </a:solidFill>
                <a:latin typeface="Arial"/>
              </a:rPr>
              <a:t>Rewards
drive loyalty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3840480" y="5989320"/>
            <a:ext cx="4572000" cy="548640"/>
          </a:xfrm>
          <a:prstGeom prst="roundRect">
            <a:avLst/>
          </a:prstGeom>
          <a:solidFill>
            <a:srgbClr val="FF1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3840480" y="6007608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North Star: Customer joins in under 30 seconds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0"/>
          </a:xfrm>
          <a:prstGeom prst="rect">
            <a:avLst/>
          </a:prstGeom>
          <a:solidFill>
            <a:srgbClr val="0F1C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F1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01168" y="256032"/>
            <a:ext cx="7315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1585"/>
                </a:solidFill>
                <a:latin typeface="Arial"/>
              </a:rPr>
              <a:t>THE 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" y="566928"/>
            <a:ext cx="10058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Why OneMember wins.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" y="1755648"/>
            <a:ext cx="3657600" cy="438912"/>
          </a:xfrm>
          <a:prstGeom prst="rect">
            <a:avLst/>
          </a:prstGeom>
          <a:solidFill>
            <a:srgbClr val="E8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38328" y="1828800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2E5A"/>
                </a:solidFill>
                <a:latin typeface="Arial"/>
              </a:rPr>
              <a:t>CATEGORY</a:t>
            </a:r>
          </a:p>
        </p:txBody>
      </p:sp>
      <p:sp>
        <p:nvSpPr>
          <p:cNvPr id="8" name="Rectangle 7"/>
          <p:cNvSpPr/>
          <p:nvPr/>
        </p:nvSpPr>
        <p:spPr>
          <a:xfrm>
            <a:off x="4023360" y="1755648"/>
            <a:ext cx="4114800" cy="438912"/>
          </a:xfrm>
          <a:prstGeom prst="rect">
            <a:avLst/>
          </a:prstGeom>
          <a:solidFill>
            <a:srgbClr val="E8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160520" y="1828800"/>
            <a:ext cx="3840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4748B"/>
                </a:solidFill>
                <a:latin typeface="Arial"/>
              </a:rPr>
              <a:t>TRADITIONAL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75320" y="1755648"/>
            <a:ext cx="3749039" cy="438912"/>
          </a:xfrm>
          <a:prstGeom prst="rect">
            <a:avLst/>
          </a:prstGeom>
          <a:solidFill>
            <a:srgbClr val="0F1C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412480" y="1828800"/>
            <a:ext cx="347471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Arial"/>
              </a:rPr>
              <a:t>ONEMEMBER ✓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1168" y="2194560"/>
            <a:ext cx="3657600" cy="58521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38328" y="2304288"/>
            <a:ext cx="338328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E5A"/>
                </a:solidFill>
                <a:latin typeface="Arial"/>
              </a:rPr>
              <a:t>Customer Sign-up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23360" y="2194560"/>
            <a:ext cx="4114800" cy="58521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160520" y="2304288"/>
            <a:ext cx="384048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Arial"/>
              </a:rPr>
              <a:t>Paper card — easily lost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75320" y="2194560"/>
            <a:ext cx="3749039" cy="585216"/>
          </a:xfrm>
          <a:prstGeom prst="rect">
            <a:avLst/>
          </a:prstGeom>
          <a:solidFill>
            <a:srgbClr val="FFE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412480" y="2304288"/>
            <a:ext cx="3474719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E5A"/>
                </a:solidFill>
                <a:latin typeface="Arial"/>
              </a:rPr>
              <a:t>QR scan — digital, instant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01168" y="2194560"/>
            <a:ext cx="11521439" cy="12700"/>
          </a:xfrm>
          <a:prstGeom prst="rect">
            <a:avLst/>
          </a:prstGeom>
          <a:solidFill>
            <a:srgbClr val="E8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201168" y="2779776"/>
            <a:ext cx="3657600" cy="585216"/>
          </a:xfrm>
          <a:prstGeom prst="rect">
            <a:avLst/>
          </a:prstGeom>
          <a:solidFill>
            <a:srgbClr val="F0F0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38328" y="2889504"/>
            <a:ext cx="338328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E5A"/>
                </a:solidFill>
                <a:latin typeface="Arial"/>
              </a:rPr>
              <a:t>Customer Data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023360" y="2779776"/>
            <a:ext cx="4114800" cy="585216"/>
          </a:xfrm>
          <a:prstGeom prst="rect">
            <a:avLst/>
          </a:prstGeom>
          <a:solidFill>
            <a:srgbClr val="F0F0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160520" y="2889504"/>
            <a:ext cx="384048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Arial"/>
              </a:rPr>
              <a:t>None collected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75320" y="2779776"/>
            <a:ext cx="3749039" cy="585216"/>
          </a:xfrm>
          <a:prstGeom prst="rect">
            <a:avLst/>
          </a:prstGeom>
          <a:solidFill>
            <a:srgbClr val="FFEB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412480" y="2889504"/>
            <a:ext cx="3474719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E5A"/>
                </a:solidFill>
                <a:latin typeface="Arial"/>
              </a:rPr>
              <a:t>Full profile from first scan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01168" y="2779776"/>
            <a:ext cx="11521439" cy="12700"/>
          </a:xfrm>
          <a:prstGeom prst="rect">
            <a:avLst/>
          </a:prstGeom>
          <a:solidFill>
            <a:srgbClr val="E8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201168" y="3364992"/>
            <a:ext cx="3657600" cy="58521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38328" y="3474720"/>
            <a:ext cx="338328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E5A"/>
                </a:solidFill>
                <a:latin typeface="Arial"/>
              </a:rPr>
              <a:t>Point Tracking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360" y="3364992"/>
            <a:ext cx="4114800" cy="58521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160520" y="3474720"/>
            <a:ext cx="384048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Arial"/>
              </a:rPr>
              <a:t>Manual — error prone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75320" y="3364992"/>
            <a:ext cx="3749039" cy="585216"/>
          </a:xfrm>
          <a:prstGeom prst="rect">
            <a:avLst/>
          </a:prstGeom>
          <a:solidFill>
            <a:srgbClr val="FFE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412480" y="3474720"/>
            <a:ext cx="3474719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E5A"/>
                </a:solidFill>
                <a:latin typeface="Arial"/>
              </a:rPr>
              <a:t>Automatic and real-time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01168" y="3364992"/>
            <a:ext cx="11521439" cy="12700"/>
          </a:xfrm>
          <a:prstGeom prst="rect">
            <a:avLst/>
          </a:prstGeom>
          <a:solidFill>
            <a:srgbClr val="E8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201168" y="3950208"/>
            <a:ext cx="3657600" cy="585216"/>
          </a:xfrm>
          <a:prstGeom prst="rect">
            <a:avLst/>
          </a:prstGeom>
          <a:solidFill>
            <a:srgbClr val="F0F0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338328" y="4059936"/>
            <a:ext cx="338328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E5A"/>
                </a:solidFill>
                <a:latin typeface="Arial"/>
              </a:rPr>
              <a:t>Birthday Rewards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023360" y="3950208"/>
            <a:ext cx="4114800" cy="585216"/>
          </a:xfrm>
          <a:prstGeom prst="rect">
            <a:avLst/>
          </a:prstGeom>
          <a:solidFill>
            <a:srgbClr val="F0F0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4160520" y="4059936"/>
            <a:ext cx="384048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Arial"/>
              </a:rPr>
              <a:t>Manual follow-up or forgotten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275320" y="3950208"/>
            <a:ext cx="3749039" cy="585216"/>
          </a:xfrm>
          <a:prstGeom prst="rect">
            <a:avLst/>
          </a:prstGeom>
          <a:solidFill>
            <a:srgbClr val="FFEB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8412480" y="4059936"/>
            <a:ext cx="3474719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E5A"/>
                </a:solidFill>
                <a:latin typeface="Arial"/>
              </a:rPr>
              <a:t>Automated email on the day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01168" y="3950208"/>
            <a:ext cx="11521439" cy="12700"/>
          </a:xfrm>
          <a:prstGeom prst="rect">
            <a:avLst/>
          </a:prstGeom>
          <a:solidFill>
            <a:srgbClr val="E8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201168" y="4535424"/>
            <a:ext cx="3657600" cy="58521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338328" y="4645152"/>
            <a:ext cx="338328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E5A"/>
                </a:solidFill>
                <a:latin typeface="Arial"/>
              </a:rPr>
              <a:t>Win-back Campaigns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023360" y="4535424"/>
            <a:ext cx="4114800" cy="58521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4160520" y="4645152"/>
            <a:ext cx="384048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Arial"/>
              </a:rPr>
              <a:t>Not possible without data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275320" y="4535424"/>
            <a:ext cx="3749039" cy="585216"/>
          </a:xfrm>
          <a:prstGeom prst="rect">
            <a:avLst/>
          </a:prstGeom>
          <a:solidFill>
            <a:srgbClr val="FFE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8412480" y="4645152"/>
            <a:ext cx="3474719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E5A"/>
                </a:solidFill>
                <a:latin typeface="Arial"/>
              </a:rPr>
              <a:t>Auto-trigger at 30-day lapse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01168" y="4535424"/>
            <a:ext cx="11521439" cy="12700"/>
          </a:xfrm>
          <a:prstGeom prst="rect">
            <a:avLst/>
          </a:prstGeom>
          <a:solidFill>
            <a:srgbClr val="E8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201168" y="5120640"/>
            <a:ext cx="3657600" cy="585216"/>
          </a:xfrm>
          <a:prstGeom prst="rect">
            <a:avLst/>
          </a:prstGeom>
          <a:solidFill>
            <a:srgbClr val="F0F0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338328" y="5230368"/>
            <a:ext cx="338328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E5A"/>
                </a:solidFill>
                <a:latin typeface="Arial"/>
              </a:rPr>
              <a:t>Analytics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023360" y="5120640"/>
            <a:ext cx="4114800" cy="585216"/>
          </a:xfrm>
          <a:prstGeom prst="rect">
            <a:avLst/>
          </a:prstGeom>
          <a:solidFill>
            <a:srgbClr val="F0F0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4160520" y="5230368"/>
            <a:ext cx="384048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Arial"/>
              </a:rPr>
              <a:t>None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275320" y="5120640"/>
            <a:ext cx="3749039" cy="585216"/>
          </a:xfrm>
          <a:prstGeom prst="rect">
            <a:avLst/>
          </a:prstGeom>
          <a:solidFill>
            <a:srgbClr val="FFEB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8412480" y="5230368"/>
            <a:ext cx="3474719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E5A"/>
                </a:solidFill>
                <a:latin typeface="Arial"/>
              </a:rPr>
              <a:t>Dashboard: visits, spend, trends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01168" y="5120640"/>
            <a:ext cx="11521439" cy="12700"/>
          </a:xfrm>
          <a:prstGeom prst="rect">
            <a:avLst/>
          </a:prstGeom>
          <a:solidFill>
            <a:srgbClr val="E8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ectangle 53"/>
          <p:cNvSpPr/>
          <p:nvPr/>
        </p:nvSpPr>
        <p:spPr>
          <a:xfrm>
            <a:off x="201168" y="5705856"/>
            <a:ext cx="3657600" cy="58521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338328" y="5815584"/>
            <a:ext cx="338328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E5A"/>
                </a:solidFill>
                <a:latin typeface="Arial"/>
              </a:rPr>
              <a:t>Setup Time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023360" y="5705856"/>
            <a:ext cx="4114800" cy="58521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4160520" y="5815584"/>
            <a:ext cx="384048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Arial"/>
              </a:rPr>
              <a:t>Printing + design time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275320" y="5705856"/>
            <a:ext cx="3749039" cy="585216"/>
          </a:xfrm>
          <a:prstGeom prst="rect">
            <a:avLst/>
          </a:prstGeom>
          <a:solidFill>
            <a:srgbClr val="FFE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8412480" y="5815584"/>
            <a:ext cx="3474719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E5A"/>
                </a:solidFill>
                <a:latin typeface="Arial"/>
              </a:rPr>
              <a:t>Under 10 minutes online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01168" y="5705856"/>
            <a:ext cx="11521439" cy="12700"/>
          </a:xfrm>
          <a:prstGeom prst="rect">
            <a:avLst/>
          </a:prstGeom>
          <a:solidFill>
            <a:srgbClr val="E8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Rectangle 60"/>
          <p:cNvSpPr/>
          <p:nvPr/>
        </p:nvSpPr>
        <p:spPr>
          <a:xfrm>
            <a:off x="201168" y="6291072"/>
            <a:ext cx="3657600" cy="585216"/>
          </a:xfrm>
          <a:prstGeom prst="rect">
            <a:avLst/>
          </a:prstGeom>
          <a:solidFill>
            <a:srgbClr val="F0F0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338328" y="6400800"/>
            <a:ext cx="338328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E5A"/>
                </a:solidFill>
                <a:latin typeface="Arial"/>
              </a:rPr>
              <a:t>Monthly Cost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023360" y="6291072"/>
            <a:ext cx="4114800" cy="585216"/>
          </a:xfrm>
          <a:prstGeom prst="rect">
            <a:avLst/>
          </a:prstGeom>
          <a:solidFill>
            <a:srgbClr val="F0F0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4160520" y="6400800"/>
            <a:ext cx="384048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Arial"/>
              </a:rPr>
              <a:t>Printing + staff time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275320" y="6291072"/>
            <a:ext cx="3749039" cy="585216"/>
          </a:xfrm>
          <a:prstGeom prst="rect">
            <a:avLst/>
          </a:prstGeom>
          <a:solidFill>
            <a:srgbClr val="FFEB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8412480" y="6400800"/>
            <a:ext cx="3474719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E5A"/>
                </a:solidFill>
                <a:latin typeface="Arial"/>
              </a:rPr>
              <a:t>Affordable flat subscription</a:t>
            </a:r>
          </a:p>
        </p:txBody>
      </p:sp>
      <p:sp>
        <p:nvSpPr>
          <p:cNvPr id="67" name="Rectangle 66"/>
          <p:cNvSpPr/>
          <p:nvPr/>
        </p:nvSpPr>
        <p:spPr>
          <a:xfrm>
            <a:off x="201168" y="6291072"/>
            <a:ext cx="11521439" cy="12700"/>
          </a:xfrm>
          <a:prstGeom prst="rect">
            <a:avLst/>
          </a:prstGeom>
          <a:solidFill>
            <a:srgbClr val="E8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0"/>
          </a:xfrm>
          <a:prstGeom prst="rect">
            <a:avLst/>
          </a:prstGeom>
          <a:solidFill>
            <a:srgbClr val="0F1C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F1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01168" y="256032"/>
            <a:ext cx="7315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1585"/>
                </a:solidFill>
                <a:latin typeface="Arial"/>
              </a:rPr>
              <a:t>FOR YOUR BUSINESS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" y="566928"/>
            <a:ext cx="10058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Eight ways OneMember grows your revenue.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02336" y="1874519"/>
            <a:ext cx="2743200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C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402336" y="1874519"/>
            <a:ext cx="2743200" cy="50800"/>
          </a:xfrm>
          <a:prstGeom prst="rect">
            <a:avLst/>
          </a:prstGeom>
          <a:solidFill>
            <a:srgbClr val="FF1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2039111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1585"/>
                </a:solidFill>
                <a:latin typeface="Arial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" y="2057399"/>
            <a:ext cx="193852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E5A"/>
                </a:solidFill>
                <a:latin typeface="Arial"/>
              </a:rPr>
              <a:t>Grow Your Database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560319"/>
            <a:ext cx="2450592" cy="12700"/>
          </a:xfrm>
          <a:prstGeom prst="rect">
            <a:avLst/>
          </a:prstGeom>
          <a:solidFill>
            <a:srgbClr val="E8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48640" y="2679191"/>
            <a:ext cx="245059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Arial"/>
              </a:rPr>
              <a:t>Add members automatically
with every customer visit.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46704" y="1874519"/>
            <a:ext cx="2743200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C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346704" y="1874519"/>
            <a:ext cx="2743200" cy="50800"/>
          </a:xfrm>
          <a:prstGeom prst="rect">
            <a:avLst/>
          </a:prstGeom>
          <a:solidFill>
            <a:srgbClr val="FF1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493008" y="2039111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1585"/>
                </a:solidFill>
                <a:latin typeface="Arial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05072" y="2057399"/>
            <a:ext cx="193852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E5A"/>
                </a:solidFill>
                <a:latin typeface="Arial"/>
              </a:rPr>
              <a:t>Know Your Customers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93008" y="2560319"/>
            <a:ext cx="2450592" cy="12700"/>
          </a:xfrm>
          <a:prstGeom prst="rect">
            <a:avLst/>
          </a:prstGeom>
          <a:solidFill>
            <a:srgbClr val="E8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493008" y="2679191"/>
            <a:ext cx="245059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Arial"/>
              </a:rPr>
              <a:t>Demographics, visit frequency,
spend patterns — all in one view.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91072" y="1874519"/>
            <a:ext cx="2743200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C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291072" y="1874519"/>
            <a:ext cx="2743200" cy="50800"/>
          </a:xfrm>
          <a:prstGeom prst="rect">
            <a:avLst/>
          </a:prstGeom>
          <a:solidFill>
            <a:srgbClr val="FF1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37376" y="2039111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1585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9440" y="2057399"/>
            <a:ext cx="193852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E5A"/>
                </a:solidFill>
                <a:latin typeface="Arial"/>
              </a:rPr>
              <a:t>Targeted Promotions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37376" y="2560319"/>
            <a:ext cx="2450592" cy="12700"/>
          </a:xfrm>
          <a:prstGeom prst="rect">
            <a:avLst/>
          </a:prstGeom>
          <a:solidFill>
            <a:srgbClr val="E8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37376" y="2679191"/>
            <a:ext cx="245059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Arial"/>
              </a:rPr>
              <a:t>Send the right offer to the right
customer at the right time.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235440" y="1874519"/>
            <a:ext cx="2743200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C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9235440" y="1874519"/>
            <a:ext cx="2743200" cy="50800"/>
          </a:xfrm>
          <a:prstGeom prst="rect">
            <a:avLst/>
          </a:prstGeom>
          <a:solidFill>
            <a:srgbClr val="FF1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381744" y="2039111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1585"/>
                </a:solidFill>
                <a:latin typeface="Arial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93808" y="2057399"/>
            <a:ext cx="193852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E5A"/>
                </a:solidFill>
                <a:latin typeface="Arial"/>
              </a:rPr>
              <a:t>Automate Rewards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381744" y="2560319"/>
            <a:ext cx="2450592" cy="12700"/>
          </a:xfrm>
          <a:prstGeom prst="rect">
            <a:avLst/>
          </a:prstGeom>
          <a:solidFill>
            <a:srgbClr val="E8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9381744" y="2679191"/>
            <a:ext cx="245059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Arial"/>
              </a:rPr>
              <a:t>Birthday, anniversary, and expiry
rewards — fully hands-free.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02336" y="4078223"/>
            <a:ext cx="2743200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C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402336" y="4078223"/>
            <a:ext cx="2743200" cy="50800"/>
          </a:xfrm>
          <a:prstGeom prst="rect">
            <a:avLst/>
          </a:prstGeom>
          <a:solidFill>
            <a:srgbClr val="FF1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48640" y="4242815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1585"/>
                </a:solidFill>
                <a:latin typeface="Arial"/>
              </a:rPr>
              <a:t>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0704" y="4261103"/>
            <a:ext cx="193852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E5A"/>
                </a:solidFill>
                <a:latin typeface="Arial"/>
              </a:rPr>
              <a:t>Reduce Discounting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" y="4764023"/>
            <a:ext cx="2450592" cy="12700"/>
          </a:xfrm>
          <a:prstGeom prst="rect">
            <a:avLst/>
          </a:prstGeom>
          <a:solidFill>
            <a:srgbClr val="E8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48640" y="4882895"/>
            <a:ext cx="245059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Arial"/>
              </a:rPr>
              <a:t>Replace blanket discounts with
meaningful loyalty rewards.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346704" y="4078223"/>
            <a:ext cx="2743200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C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3346704" y="4078223"/>
            <a:ext cx="2743200" cy="50800"/>
          </a:xfrm>
          <a:prstGeom prst="rect">
            <a:avLst/>
          </a:prstGeom>
          <a:solidFill>
            <a:srgbClr val="FF1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3493008" y="4242815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1585"/>
                </a:solidFill>
                <a:latin typeface="Arial"/>
              </a:rPr>
              <a:t>06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005072" y="4261103"/>
            <a:ext cx="193852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E5A"/>
                </a:solidFill>
                <a:latin typeface="Arial"/>
              </a:rPr>
              <a:t>One Dashboard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493008" y="4764023"/>
            <a:ext cx="2450592" cy="12700"/>
          </a:xfrm>
          <a:prstGeom prst="rect">
            <a:avLst/>
          </a:prstGeom>
          <a:solidFill>
            <a:srgbClr val="E8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3493008" y="4882895"/>
            <a:ext cx="245059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Arial"/>
              </a:rPr>
              <a:t>Members, transactions, rewards,
and reports — one place.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291072" y="4078223"/>
            <a:ext cx="2743200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C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6291072" y="4078223"/>
            <a:ext cx="2743200" cy="50800"/>
          </a:xfrm>
          <a:prstGeom prst="rect">
            <a:avLst/>
          </a:prstGeom>
          <a:solidFill>
            <a:srgbClr val="FF1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437376" y="4242815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1585"/>
                </a:solidFill>
                <a:latin typeface="Arial"/>
              </a:rPr>
              <a:t>07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949440" y="4261103"/>
            <a:ext cx="193852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E5A"/>
                </a:solidFill>
                <a:latin typeface="Arial"/>
              </a:rPr>
              <a:t>Affordable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437376" y="4764023"/>
            <a:ext cx="2450592" cy="12700"/>
          </a:xfrm>
          <a:prstGeom prst="rect">
            <a:avLst/>
          </a:prstGeom>
          <a:solidFill>
            <a:srgbClr val="E8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6437376" y="4882895"/>
            <a:ext cx="245059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Arial"/>
              </a:rPr>
              <a:t>Flat monthly fee. No per-transaction
surprises. Predictable cost.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235440" y="4078223"/>
            <a:ext cx="2743200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C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ectangle 48"/>
          <p:cNvSpPr/>
          <p:nvPr/>
        </p:nvSpPr>
        <p:spPr>
          <a:xfrm>
            <a:off x="9235440" y="4078223"/>
            <a:ext cx="2743200" cy="50800"/>
          </a:xfrm>
          <a:prstGeom prst="rect">
            <a:avLst/>
          </a:prstGeom>
          <a:solidFill>
            <a:srgbClr val="FF1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9381744" y="4242815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1585"/>
                </a:solidFill>
                <a:latin typeface="Arial"/>
              </a:rPr>
              <a:t>08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893808" y="4261103"/>
            <a:ext cx="193852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E5A"/>
                </a:solidFill>
                <a:latin typeface="Arial"/>
              </a:rPr>
              <a:t>Fast Setup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381744" y="4764023"/>
            <a:ext cx="2450592" cy="12700"/>
          </a:xfrm>
          <a:prstGeom prst="rect">
            <a:avLst/>
          </a:prstGeom>
          <a:solidFill>
            <a:srgbClr val="E8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9381744" y="4882895"/>
            <a:ext cx="245059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Arial"/>
              </a:rPr>
              <a:t>Online in under 10 minutes.
No IT team or tech skills needed.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0"/>
          </a:xfrm>
          <a:prstGeom prst="rect">
            <a:avLst/>
          </a:prstGeom>
          <a:solidFill>
            <a:srgbClr val="FF1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F1C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01168" y="256032"/>
            <a:ext cx="7315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1585"/>
                </a:solidFill>
                <a:latin typeface="Arial"/>
              </a:rPr>
              <a:t>FOR YOUR CUSTOMERS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" y="566928"/>
            <a:ext cx="10058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A loyalty experience they will actually use.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02336" y="1874519"/>
            <a:ext cx="2743200" cy="2057400"/>
          </a:xfrm>
          <a:prstGeom prst="roundRect">
            <a:avLst/>
          </a:prstGeom>
          <a:solidFill>
            <a:srgbClr val="F0F0F4"/>
          </a:solidFill>
          <a:ln w="12700">
            <a:solidFill>
              <a:srgbClr val="E8EC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402336" y="1874519"/>
            <a:ext cx="2743200" cy="50800"/>
          </a:xfrm>
          <a:prstGeom prst="rect">
            <a:avLst/>
          </a:prstGeom>
          <a:solidFill>
            <a:srgbClr val="0F1C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2039111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1585"/>
                </a:solidFill>
                <a:latin typeface="Arial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" y="2057399"/>
            <a:ext cx="193852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E5A"/>
                </a:solidFill>
                <a:latin typeface="Arial"/>
              </a:rPr>
              <a:t>No App Download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560319"/>
            <a:ext cx="2450592" cy="12700"/>
          </a:xfrm>
          <a:prstGeom prst="rect">
            <a:avLst/>
          </a:prstGeom>
          <a:solidFill>
            <a:srgbClr val="E8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48640" y="2679191"/>
            <a:ext cx="245059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Arial"/>
              </a:rPr>
              <a:t>Runs in any mobile browser.
Zero friction to get started.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46704" y="1874519"/>
            <a:ext cx="2743200" cy="2057400"/>
          </a:xfrm>
          <a:prstGeom prst="roundRect">
            <a:avLst/>
          </a:prstGeom>
          <a:solidFill>
            <a:srgbClr val="F0F0F4"/>
          </a:solidFill>
          <a:ln w="12700">
            <a:solidFill>
              <a:srgbClr val="E8EC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346704" y="1874519"/>
            <a:ext cx="2743200" cy="50800"/>
          </a:xfrm>
          <a:prstGeom prst="rect">
            <a:avLst/>
          </a:prstGeom>
          <a:solidFill>
            <a:srgbClr val="0F1C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493008" y="2039111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1585"/>
                </a:solidFill>
                <a:latin typeface="Arial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05072" y="2057399"/>
            <a:ext cx="193852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E5A"/>
                </a:solidFill>
                <a:latin typeface="Arial"/>
              </a:rPr>
              <a:t>Join in 30 Seconds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93008" y="2560319"/>
            <a:ext cx="2450592" cy="12700"/>
          </a:xfrm>
          <a:prstGeom prst="rect">
            <a:avLst/>
          </a:prstGeom>
          <a:solidFill>
            <a:srgbClr val="E8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493008" y="2679191"/>
            <a:ext cx="245059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Arial"/>
              </a:rPr>
              <a:t>Name and phone number only.
Nothing more is required.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91072" y="1874519"/>
            <a:ext cx="2743200" cy="2057400"/>
          </a:xfrm>
          <a:prstGeom prst="roundRect">
            <a:avLst/>
          </a:prstGeom>
          <a:solidFill>
            <a:srgbClr val="F0F0F4"/>
          </a:solidFill>
          <a:ln w="12700">
            <a:solidFill>
              <a:srgbClr val="E8EC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291072" y="1874519"/>
            <a:ext cx="2743200" cy="50800"/>
          </a:xfrm>
          <a:prstGeom prst="rect">
            <a:avLst/>
          </a:prstGeom>
          <a:solidFill>
            <a:srgbClr val="0F1C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37376" y="2039111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1585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9440" y="2057399"/>
            <a:ext cx="193852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E5A"/>
                </a:solidFill>
                <a:latin typeface="Arial"/>
              </a:rPr>
              <a:t>Earn Every Visit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37376" y="2560319"/>
            <a:ext cx="2450592" cy="12700"/>
          </a:xfrm>
          <a:prstGeom prst="rect">
            <a:avLst/>
          </a:prstGeom>
          <a:solidFill>
            <a:srgbClr val="E8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37376" y="2679191"/>
            <a:ext cx="245059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Arial"/>
              </a:rPr>
              <a:t>Points or stamps are applied
automatically on each visit.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235440" y="1874519"/>
            <a:ext cx="2743200" cy="2057400"/>
          </a:xfrm>
          <a:prstGeom prst="roundRect">
            <a:avLst/>
          </a:prstGeom>
          <a:solidFill>
            <a:srgbClr val="F0F0F4"/>
          </a:solidFill>
          <a:ln w="12700">
            <a:solidFill>
              <a:srgbClr val="E8EC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9235440" y="1874519"/>
            <a:ext cx="2743200" cy="50800"/>
          </a:xfrm>
          <a:prstGeom prst="rect">
            <a:avLst/>
          </a:prstGeom>
          <a:solidFill>
            <a:srgbClr val="0F1C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381744" y="2039111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1585"/>
                </a:solidFill>
                <a:latin typeface="Arial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93808" y="2057399"/>
            <a:ext cx="193852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E5A"/>
                </a:solidFill>
                <a:latin typeface="Arial"/>
              </a:rPr>
              <a:t>Instant Redemption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381744" y="2560319"/>
            <a:ext cx="2450592" cy="12700"/>
          </a:xfrm>
          <a:prstGeom prst="rect">
            <a:avLst/>
          </a:prstGeom>
          <a:solidFill>
            <a:srgbClr val="E8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9381744" y="2679191"/>
            <a:ext cx="245059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Arial"/>
              </a:rPr>
              <a:t>Redeem rewards at the counter
in seconds — no waiting.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02336" y="4078223"/>
            <a:ext cx="2743200" cy="2057400"/>
          </a:xfrm>
          <a:prstGeom prst="roundRect">
            <a:avLst/>
          </a:prstGeom>
          <a:solidFill>
            <a:srgbClr val="F0F0F4"/>
          </a:solidFill>
          <a:ln w="12700">
            <a:solidFill>
              <a:srgbClr val="E8EC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402336" y="4078223"/>
            <a:ext cx="2743200" cy="50800"/>
          </a:xfrm>
          <a:prstGeom prst="rect">
            <a:avLst/>
          </a:prstGeom>
          <a:solidFill>
            <a:srgbClr val="0F1C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48640" y="4242815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1585"/>
                </a:solidFill>
                <a:latin typeface="Arial"/>
              </a:rPr>
              <a:t>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0704" y="4261103"/>
            <a:ext cx="193852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E5A"/>
                </a:solidFill>
                <a:latin typeface="Arial"/>
              </a:rPr>
              <a:t>Birthday Rewards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" y="4764023"/>
            <a:ext cx="2450592" cy="12700"/>
          </a:xfrm>
          <a:prstGeom prst="rect">
            <a:avLst/>
          </a:prstGeom>
          <a:solidFill>
            <a:srgbClr val="E8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48640" y="4882895"/>
            <a:ext cx="245059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Arial"/>
              </a:rPr>
              <a:t>A special offer arrives
automatically on their birthday.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346704" y="4078223"/>
            <a:ext cx="2743200" cy="2057400"/>
          </a:xfrm>
          <a:prstGeom prst="roundRect">
            <a:avLst/>
          </a:prstGeom>
          <a:solidFill>
            <a:srgbClr val="F0F0F4"/>
          </a:solidFill>
          <a:ln w="12700">
            <a:solidFill>
              <a:srgbClr val="E8EC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3346704" y="4078223"/>
            <a:ext cx="2743200" cy="50800"/>
          </a:xfrm>
          <a:prstGeom prst="rect">
            <a:avLst/>
          </a:prstGeom>
          <a:solidFill>
            <a:srgbClr val="0F1C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3493008" y="4242815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1585"/>
                </a:solidFill>
                <a:latin typeface="Arial"/>
              </a:rPr>
              <a:t>06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005072" y="4261103"/>
            <a:ext cx="193852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E5A"/>
                </a:solidFill>
                <a:latin typeface="Arial"/>
              </a:rPr>
              <a:t>Privacy First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493008" y="4764023"/>
            <a:ext cx="2450592" cy="12700"/>
          </a:xfrm>
          <a:prstGeom prst="rect">
            <a:avLst/>
          </a:prstGeom>
          <a:solidFill>
            <a:srgbClr val="E8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3493008" y="4882895"/>
            <a:ext cx="245059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Arial"/>
              </a:rPr>
              <a:t>Minimal data collection.
No unnecessary permissions.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291072" y="4078223"/>
            <a:ext cx="2743200" cy="2057400"/>
          </a:xfrm>
          <a:prstGeom prst="roundRect">
            <a:avLst/>
          </a:prstGeom>
          <a:solidFill>
            <a:srgbClr val="F0F0F4"/>
          </a:solidFill>
          <a:ln w="12700">
            <a:solidFill>
              <a:srgbClr val="E8EC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6291072" y="4078223"/>
            <a:ext cx="2743200" cy="50800"/>
          </a:xfrm>
          <a:prstGeom prst="rect">
            <a:avLst/>
          </a:prstGeom>
          <a:solidFill>
            <a:srgbClr val="0F1C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437376" y="4242815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1585"/>
                </a:solidFill>
                <a:latin typeface="Arial"/>
              </a:rPr>
              <a:t>07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949440" y="4261103"/>
            <a:ext cx="193852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E5A"/>
                </a:solidFill>
                <a:latin typeface="Arial"/>
              </a:rPr>
              <a:t>Works Everywhere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437376" y="4764023"/>
            <a:ext cx="2450592" cy="12700"/>
          </a:xfrm>
          <a:prstGeom prst="rect">
            <a:avLst/>
          </a:prstGeom>
          <a:solidFill>
            <a:srgbClr val="E8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6437376" y="4882895"/>
            <a:ext cx="245059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Arial"/>
              </a:rPr>
              <a:t>Valid at every location
of the same business.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235440" y="4078223"/>
            <a:ext cx="2743200" cy="2057400"/>
          </a:xfrm>
          <a:prstGeom prst="roundRect">
            <a:avLst/>
          </a:prstGeom>
          <a:solidFill>
            <a:srgbClr val="F0F0F4"/>
          </a:solidFill>
          <a:ln w="12700">
            <a:solidFill>
              <a:srgbClr val="E8EC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ectangle 48"/>
          <p:cNvSpPr/>
          <p:nvPr/>
        </p:nvSpPr>
        <p:spPr>
          <a:xfrm>
            <a:off x="9235440" y="4078223"/>
            <a:ext cx="2743200" cy="50800"/>
          </a:xfrm>
          <a:prstGeom prst="rect">
            <a:avLst/>
          </a:prstGeom>
          <a:solidFill>
            <a:srgbClr val="0F1C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9381744" y="4242815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1585"/>
                </a:solidFill>
                <a:latin typeface="Arial"/>
              </a:rPr>
              <a:t>08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893808" y="4261103"/>
            <a:ext cx="193852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E5A"/>
                </a:solidFill>
                <a:latin typeface="Arial"/>
              </a:rPr>
              <a:t>Always With Them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381744" y="4764023"/>
            <a:ext cx="2450592" cy="12700"/>
          </a:xfrm>
          <a:prstGeom prst="rect">
            <a:avLst/>
          </a:prstGeom>
          <a:solidFill>
            <a:srgbClr val="E8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9381744" y="4882895"/>
            <a:ext cx="245059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Arial"/>
              </a:rPr>
              <a:t>Digital card — can never
be lost or forgotten.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C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1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FF1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7315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1585"/>
                </a:solidFill>
                <a:latin typeface="Arial"/>
              </a:rPr>
              <a:t>BUSINESS INTELLIGENCE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94360"/>
            <a:ext cx="7772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Arial"/>
              </a:rPr>
              <a:t>Your member data becomes
your competitive advantage.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0624" y="2377440"/>
            <a:ext cx="3657600" cy="1783080"/>
          </a:xfrm>
          <a:prstGeom prst="roundRect">
            <a:avLst/>
          </a:prstGeom>
          <a:solidFill>
            <a:srgbClr val="1A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420624" y="2377440"/>
            <a:ext cx="50800" cy="1783080"/>
          </a:xfrm>
          <a:prstGeom prst="rect">
            <a:avLst/>
          </a:prstGeom>
          <a:solidFill>
            <a:srgbClr val="FF1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03504" y="2514600"/>
            <a:ext cx="33375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Churn Prediction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603504" y="2999232"/>
            <a:ext cx="3291840" cy="12700"/>
          </a:xfrm>
          <a:prstGeom prst="rect">
            <a:avLst/>
          </a:prstGeom>
          <a:solidFill>
            <a:srgbClr val="2A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03504" y="3127248"/>
            <a:ext cx="333756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F0F4"/>
                </a:solidFill>
                <a:latin typeface="Arial"/>
              </a:rPr>
              <a:t>Identify at-risk customers
before they stop visiting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79392" y="2377440"/>
            <a:ext cx="3657600" cy="1783080"/>
          </a:xfrm>
          <a:prstGeom prst="roundRect">
            <a:avLst/>
          </a:prstGeom>
          <a:solidFill>
            <a:srgbClr val="1A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279392" y="2377440"/>
            <a:ext cx="50800" cy="1783080"/>
          </a:xfrm>
          <a:prstGeom prst="rect">
            <a:avLst/>
          </a:prstGeom>
          <a:solidFill>
            <a:srgbClr val="FF1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462272" y="2514600"/>
            <a:ext cx="33375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Campaign Analytics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62272" y="2999232"/>
            <a:ext cx="3291840" cy="12700"/>
          </a:xfrm>
          <a:prstGeom prst="rect">
            <a:avLst/>
          </a:prstGeom>
          <a:solidFill>
            <a:srgbClr val="2A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462272" y="3127248"/>
            <a:ext cx="333756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F0F4"/>
                </a:solidFill>
                <a:latin typeface="Arial"/>
              </a:rPr>
              <a:t>See exactly which promotions
generate revenue — and which don't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8160" y="2377440"/>
            <a:ext cx="3657600" cy="1783080"/>
          </a:xfrm>
          <a:prstGeom prst="roundRect">
            <a:avLst/>
          </a:prstGeom>
          <a:solidFill>
            <a:srgbClr val="1A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138160" y="2377440"/>
            <a:ext cx="50800" cy="1783080"/>
          </a:xfrm>
          <a:prstGeom prst="rect">
            <a:avLst/>
          </a:prstGeom>
          <a:solidFill>
            <a:srgbClr val="FF1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321040" y="2514600"/>
            <a:ext cx="33375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Spend Segmentation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321040" y="2999232"/>
            <a:ext cx="3291840" cy="12700"/>
          </a:xfrm>
          <a:prstGeom prst="rect">
            <a:avLst/>
          </a:prstGeom>
          <a:solidFill>
            <a:srgbClr val="2A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321040" y="3127248"/>
            <a:ext cx="333756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F0F4"/>
                </a:solidFill>
                <a:latin typeface="Arial"/>
              </a:rPr>
              <a:t>Your top 20% of customers
drive 80% of your revenue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0624" y="4325112"/>
            <a:ext cx="3657600" cy="1783080"/>
          </a:xfrm>
          <a:prstGeom prst="roundRect">
            <a:avLst/>
          </a:prstGeom>
          <a:solidFill>
            <a:srgbClr val="1A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420624" y="4325112"/>
            <a:ext cx="50800" cy="1783080"/>
          </a:xfrm>
          <a:prstGeom prst="rect">
            <a:avLst/>
          </a:prstGeom>
          <a:solidFill>
            <a:srgbClr val="FF1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03504" y="4462272"/>
            <a:ext cx="33375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Frequency Heat Maps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03504" y="4946904"/>
            <a:ext cx="3291840" cy="12700"/>
          </a:xfrm>
          <a:prstGeom prst="rect">
            <a:avLst/>
          </a:prstGeom>
          <a:solidFill>
            <a:srgbClr val="2A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03504" y="5074920"/>
            <a:ext cx="333756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F0F4"/>
                </a:solidFill>
                <a:latin typeface="Arial"/>
              </a:rPr>
              <a:t>Discover your busiest days
to time promotions precisely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79392" y="4325112"/>
            <a:ext cx="3657600" cy="1783080"/>
          </a:xfrm>
          <a:prstGeom prst="roundRect">
            <a:avLst/>
          </a:prstGeom>
          <a:solidFill>
            <a:srgbClr val="1A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4279392" y="4325112"/>
            <a:ext cx="50800" cy="1783080"/>
          </a:xfrm>
          <a:prstGeom prst="rect">
            <a:avLst/>
          </a:prstGeom>
          <a:solidFill>
            <a:srgbClr val="FF1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462272" y="4462272"/>
            <a:ext cx="33375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Win-Back Automation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462272" y="4946904"/>
            <a:ext cx="3291840" cy="12700"/>
          </a:xfrm>
          <a:prstGeom prst="rect">
            <a:avLst/>
          </a:prstGeom>
          <a:solidFill>
            <a:srgbClr val="2A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462272" y="5074920"/>
            <a:ext cx="333756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F0F4"/>
                </a:solidFill>
                <a:latin typeface="Arial"/>
              </a:rPr>
              <a:t>Auto-trigger an offer when
a member lapses 30 days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138160" y="4325112"/>
            <a:ext cx="3657600" cy="1783080"/>
          </a:xfrm>
          <a:prstGeom prst="roundRect">
            <a:avLst/>
          </a:prstGeom>
          <a:solidFill>
            <a:srgbClr val="1A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8138160" y="4325112"/>
            <a:ext cx="50800" cy="1783080"/>
          </a:xfrm>
          <a:prstGeom prst="rect">
            <a:avLst/>
          </a:prstGeom>
          <a:solidFill>
            <a:srgbClr val="FF1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321040" y="4462272"/>
            <a:ext cx="33375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Revenue Attribution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321040" y="4946904"/>
            <a:ext cx="3291840" cy="12700"/>
          </a:xfrm>
          <a:prstGeom prst="rect">
            <a:avLst/>
          </a:prstGeom>
          <a:solidFill>
            <a:srgbClr val="2A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8321040" y="5074920"/>
            <a:ext cx="333756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F0F4"/>
                </a:solidFill>
                <a:latin typeface="Arial"/>
              </a:rPr>
              <a:t>Link every campaign directly
to incremental revenue earned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64465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4748B"/>
                </a:solidFill>
                <a:latin typeface="Arial"/>
              </a:rPr>
              <a:t>Phase 2 — OneMember Intelligence Layer  (Coming Soon)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0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0"/>
          </a:xfrm>
          <a:prstGeom prst="rect">
            <a:avLst/>
          </a:prstGeom>
          <a:solidFill>
            <a:srgbClr val="0F1C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F1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01168" y="256032"/>
            <a:ext cx="7315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1585"/>
                </a:solidFill>
                <a:latin typeface="Arial"/>
              </a:rPr>
              <a:t>WHERE WE ARE GOING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" y="566928"/>
            <a:ext cx="10058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Building the operating system for local business.</a:t>
            </a:r>
          </a:p>
        </p:txBody>
      </p:sp>
      <p:sp>
        <p:nvSpPr>
          <p:cNvPr id="6" name="Rectangle 5"/>
          <p:cNvSpPr/>
          <p:nvPr/>
        </p:nvSpPr>
        <p:spPr>
          <a:xfrm>
            <a:off x="402336" y="5833872"/>
            <a:ext cx="11387023" cy="25400"/>
          </a:xfrm>
          <a:prstGeom prst="rect">
            <a:avLst/>
          </a:prstGeom>
          <a:solidFill>
            <a:srgbClr val="E8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402336" y="1920240"/>
            <a:ext cx="1371600" cy="3840480"/>
          </a:xfrm>
          <a:prstGeom prst="roundRect">
            <a:avLst/>
          </a:prstGeom>
          <a:solidFill>
            <a:srgbClr val="FF1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02336" y="2084832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F1C3A"/>
                </a:solidFill>
                <a:latin typeface="Arial"/>
              </a:rPr>
              <a:t>NOW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2336" y="2514600"/>
            <a:ext cx="1371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Merchant
Loyalty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6656" y="5257800"/>
            <a:ext cx="822960" cy="347472"/>
          </a:xfrm>
          <a:prstGeom prst="roundRect">
            <a:avLst/>
          </a:prstGeom>
          <a:solidFill>
            <a:srgbClr val="0F1C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76656" y="5266944"/>
            <a:ext cx="822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1585"/>
                </a:solidFill>
                <a:latin typeface="Arial"/>
              </a:rPr>
              <a:t>● LIVE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883664" y="1920240"/>
            <a:ext cx="1371600" cy="3840480"/>
          </a:xfrm>
          <a:prstGeom prst="roundRect">
            <a:avLst/>
          </a:prstGeom>
          <a:solidFill>
            <a:srgbClr val="1A42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883664" y="2084832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PH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83664" y="2514600"/>
            <a:ext cx="1371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Arial"/>
              </a:rPr>
              <a:t>Customer
Wallet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64992" y="1920240"/>
            <a:ext cx="1371600" cy="3840480"/>
          </a:xfrm>
          <a:prstGeom prst="roundRect">
            <a:avLst/>
          </a:prstGeom>
          <a:solidFill>
            <a:srgbClr val="1A42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364992" y="2084832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PH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64992" y="2514600"/>
            <a:ext cx="1371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Arial"/>
              </a:rPr>
              <a:t>Commerce
Platform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846320" y="1920240"/>
            <a:ext cx="1371600" cy="3840480"/>
          </a:xfrm>
          <a:prstGeom prst="round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846320" y="2084832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PH 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46320" y="2514600"/>
            <a:ext cx="1371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Arial"/>
              </a:rPr>
              <a:t>POS
Integration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1920240"/>
            <a:ext cx="1371600" cy="3840480"/>
          </a:xfrm>
          <a:prstGeom prst="round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327648" y="2084832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PH 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27648" y="2514600"/>
            <a:ext cx="1371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Arial"/>
              </a:rPr>
              <a:t>Inventory
Management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808976" y="1920240"/>
            <a:ext cx="1371600" cy="3840480"/>
          </a:xfrm>
          <a:prstGeom prst="round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808976" y="2084832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PH 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08976" y="2514600"/>
            <a:ext cx="1371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Arial"/>
              </a:rPr>
              <a:t>Accounting
Connect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90304" y="1920240"/>
            <a:ext cx="1371600" cy="3840480"/>
          </a:xfrm>
          <a:prstGeom prst="round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290304" y="2084832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PH 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90304" y="2514600"/>
            <a:ext cx="1371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Arial"/>
              </a:rPr>
              <a:t>AI &amp;
Analytics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771632" y="1920240"/>
            <a:ext cx="1371600" cy="3840480"/>
          </a:xfrm>
          <a:prstGeom prst="round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0771632" y="2084832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PH 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71632" y="2514600"/>
            <a:ext cx="1371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Arial"/>
              </a:rPr>
              <a:t>Regional
Expansion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02336" y="640080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64748B"/>
                </a:solidFill>
                <a:latin typeface="Arial"/>
              </a:rPr>
              <a:t>Direction of travel  ›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0"/>
          </a:xfrm>
          <a:prstGeom prst="rect">
            <a:avLst/>
          </a:prstGeom>
          <a:solidFill>
            <a:srgbClr val="0F1C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F1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01168" y="256032"/>
            <a:ext cx="7315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1585"/>
                </a:solidFill>
                <a:latin typeface="Arial"/>
              </a:rPr>
              <a:t>WHY ONEMEMBER IS DIFFERENT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" y="566928"/>
            <a:ext cx="10058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Six reasons we are different.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02336" y="1874519"/>
            <a:ext cx="3657600" cy="2011680"/>
          </a:xfrm>
          <a:prstGeom prst="roundRect">
            <a:avLst/>
          </a:prstGeom>
          <a:solidFill>
            <a:srgbClr val="F0F0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402336" y="1874519"/>
            <a:ext cx="50800" cy="2011680"/>
          </a:xfrm>
          <a:prstGeom prst="rect">
            <a:avLst/>
          </a:prstGeom>
          <a:solidFill>
            <a:srgbClr val="FF1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66928" y="2011679"/>
            <a:ext cx="4114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1585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" y="2057399"/>
            <a:ext cx="2971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E5A"/>
                </a:solidFill>
                <a:latin typeface="Arial"/>
              </a:rPr>
              <a:t>Merchant-First Design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551175"/>
            <a:ext cx="3328416" cy="12700"/>
          </a:xfrm>
          <a:prstGeom prst="rect">
            <a:avLst/>
          </a:prstGeom>
          <a:solidFill>
            <a:srgbClr val="E8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66928" y="2679191"/>
            <a:ext cx="3328416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Arial"/>
              </a:rPr>
              <a:t>Every feature is built for merchant growth — not for an app store rating or VC metrics.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15968" y="1874519"/>
            <a:ext cx="3657600" cy="2011680"/>
          </a:xfrm>
          <a:prstGeom prst="roundRect">
            <a:avLst/>
          </a:prstGeom>
          <a:solidFill>
            <a:srgbClr val="F0F0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315968" y="1874519"/>
            <a:ext cx="50800" cy="2011680"/>
          </a:xfrm>
          <a:prstGeom prst="rect">
            <a:avLst/>
          </a:prstGeom>
          <a:solidFill>
            <a:srgbClr val="FF1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480560" y="2011679"/>
            <a:ext cx="4114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1585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64608" y="2057399"/>
            <a:ext cx="2971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E5A"/>
                </a:solidFill>
                <a:latin typeface="Arial"/>
              </a:rPr>
              <a:t>No App Required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80560" y="2551175"/>
            <a:ext cx="3328416" cy="12700"/>
          </a:xfrm>
          <a:prstGeom prst="rect">
            <a:avLst/>
          </a:prstGeom>
          <a:solidFill>
            <a:srgbClr val="E8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480560" y="2679191"/>
            <a:ext cx="3328416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Arial"/>
              </a:rPr>
              <a:t>The highest barrier to customer adoption is eliminated. Customers scan. That's it.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0" y="1874519"/>
            <a:ext cx="3657600" cy="2011680"/>
          </a:xfrm>
          <a:prstGeom prst="roundRect">
            <a:avLst/>
          </a:prstGeom>
          <a:solidFill>
            <a:srgbClr val="F0F0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8229600" y="1874519"/>
            <a:ext cx="50800" cy="2011680"/>
          </a:xfrm>
          <a:prstGeom prst="rect">
            <a:avLst/>
          </a:prstGeom>
          <a:solidFill>
            <a:srgbClr val="FF1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394192" y="2011679"/>
            <a:ext cx="4114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1585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78240" y="2057399"/>
            <a:ext cx="2971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E5A"/>
                </a:solidFill>
                <a:latin typeface="Arial"/>
              </a:rPr>
              <a:t>Privacy by Design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394192" y="2551175"/>
            <a:ext cx="3328416" cy="12700"/>
          </a:xfrm>
          <a:prstGeom prst="rect">
            <a:avLst/>
          </a:prstGeom>
          <a:solidFill>
            <a:srgbClr val="E8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394192" y="2679191"/>
            <a:ext cx="3328416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Arial"/>
              </a:rPr>
              <a:t>We collect the minimum data needed. Customers trust merchants who respect their privacy.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02336" y="4032503"/>
            <a:ext cx="3657600" cy="2011680"/>
          </a:xfrm>
          <a:prstGeom prst="roundRect">
            <a:avLst/>
          </a:prstGeom>
          <a:solidFill>
            <a:srgbClr val="F0F0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402336" y="4032503"/>
            <a:ext cx="50800" cy="2011680"/>
          </a:xfrm>
          <a:prstGeom prst="rect">
            <a:avLst/>
          </a:prstGeom>
          <a:solidFill>
            <a:srgbClr val="FF1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66928" y="4169663"/>
            <a:ext cx="4114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1585"/>
                </a:solidFill>
                <a:latin typeface="Arial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0976" y="4215383"/>
            <a:ext cx="2971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E5A"/>
                </a:solidFill>
                <a:latin typeface="Arial"/>
              </a:rPr>
              <a:t>Built for Thailand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66928" y="4709159"/>
            <a:ext cx="3328416" cy="12700"/>
          </a:xfrm>
          <a:prstGeom prst="rect">
            <a:avLst/>
          </a:prstGeom>
          <a:solidFill>
            <a:srgbClr val="E8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66928" y="4837175"/>
            <a:ext cx="3328416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Arial"/>
              </a:rPr>
              <a:t>Thai Baht, Thai language, local business context. Not an imported product re-labelled.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15968" y="4032503"/>
            <a:ext cx="3657600" cy="2011680"/>
          </a:xfrm>
          <a:prstGeom prst="roundRect">
            <a:avLst/>
          </a:prstGeom>
          <a:solidFill>
            <a:srgbClr val="F0F0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4315968" y="4032503"/>
            <a:ext cx="50800" cy="2011680"/>
          </a:xfrm>
          <a:prstGeom prst="rect">
            <a:avLst/>
          </a:prstGeom>
          <a:solidFill>
            <a:srgbClr val="FF1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480560" y="4169663"/>
            <a:ext cx="4114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1585"/>
                </a:solidFill>
                <a:latin typeface="Arial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64608" y="4215383"/>
            <a:ext cx="2971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E5A"/>
                </a:solidFill>
                <a:latin typeface="Arial"/>
              </a:rPr>
              <a:t>SME Pricing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480560" y="4709159"/>
            <a:ext cx="3328416" cy="12700"/>
          </a:xfrm>
          <a:prstGeom prst="rect">
            <a:avLst/>
          </a:prstGeom>
          <a:solidFill>
            <a:srgbClr val="E8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480560" y="4837175"/>
            <a:ext cx="3328416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Arial"/>
              </a:rPr>
              <a:t>Enterprise-grade loyalty at a price point that makes sense for a local business.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229600" y="4032503"/>
            <a:ext cx="3657600" cy="2011680"/>
          </a:xfrm>
          <a:prstGeom prst="roundRect">
            <a:avLst/>
          </a:prstGeom>
          <a:solidFill>
            <a:srgbClr val="F0F0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8229600" y="4032503"/>
            <a:ext cx="50800" cy="2011680"/>
          </a:xfrm>
          <a:prstGeom prst="rect">
            <a:avLst/>
          </a:prstGeom>
          <a:solidFill>
            <a:srgbClr val="FF1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8394192" y="4169663"/>
            <a:ext cx="4114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1585"/>
                </a:solidFill>
                <a:latin typeface="Arial"/>
              </a:rPr>
              <a:t>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778240" y="4215383"/>
            <a:ext cx="2971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E5A"/>
                </a:solidFill>
                <a:latin typeface="Arial"/>
              </a:rPr>
              <a:t>Built to Scale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394192" y="4709159"/>
            <a:ext cx="3328416" cy="12700"/>
          </a:xfrm>
          <a:prstGeom prst="rect">
            <a:avLst/>
          </a:prstGeom>
          <a:solidFill>
            <a:srgbClr val="E8EC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8394192" y="4837175"/>
            <a:ext cx="3328416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Arial"/>
              </a:rPr>
              <a:t>Start with one outlet. Grow to a chain. OneMember scales as your business grows.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C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1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FF1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076895" y="320040"/>
            <a:ext cx="54864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FF1585"/>
                </a:solidFill>
                <a:latin typeface="Arial"/>
              </a:rPr>
              <a:t>one</a:t>
            </a:r>
            <a:r>
              <a:rPr sz="2000" b="1">
                <a:solidFill>
                  <a:srgbClr val="FFFFFF"/>
                </a:solidFill>
                <a:latin typeface="Arial"/>
              </a:rPr>
              <a:t>member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111556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800" b="1" i="0">
                <a:solidFill>
                  <a:srgbClr val="FFFFFF"/>
                </a:solidFill>
                <a:latin typeface="Arial"/>
              </a:rPr>
              <a:t>Ready to grow?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60604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F0F0F4"/>
                </a:solidFill>
                <a:latin typeface="Arial"/>
              </a:rPr>
              <a:t>Turn every customer visit into a loyal member.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3310128"/>
            <a:ext cx="5760720" cy="12700"/>
          </a:xfrm>
          <a:prstGeom prst="rect">
            <a:avLst/>
          </a:prstGeom>
          <a:solidFill>
            <a:srgbClr val="2A3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1051560" y="3657600"/>
            <a:ext cx="3383280" cy="2194560"/>
          </a:xfrm>
          <a:prstGeom prst="roundRect">
            <a:avLst/>
          </a:prstGeom>
          <a:solidFill>
            <a:srgbClr val="FF1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51560" y="3977640"/>
            <a:ext cx="3383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 b="1" i="0">
                <a:solidFill>
                  <a:srgbClr val="FFFFFF"/>
                </a:solidFill>
                <a:latin typeface="Arial"/>
              </a:rPr>
              <a:t>Start Today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00200" y="4553712"/>
            <a:ext cx="2286000" cy="12700"/>
          </a:xfrm>
          <a:prstGeom prst="rect">
            <a:avLst/>
          </a:prstGeom>
          <a:solidFill>
            <a:srgbClr val="FF60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188720" y="4709160"/>
            <a:ext cx="31089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E0F0"/>
                </a:solidFill>
                <a:latin typeface="Arial"/>
              </a:rPr>
              <a:t>Register your account
in 5 minutes. No contract.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54880" y="3657600"/>
            <a:ext cx="3383280" cy="2194560"/>
          </a:xfrm>
          <a:prstGeom prst="roundRect">
            <a:avLst/>
          </a:prstGeom>
          <a:solidFill>
            <a:srgbClr val="1A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754880" y="3977640"/>
            <a:ext cx="3383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 b="1" i="0">
                <a:solidFill>
                  <a:srgbClr val="FFFFFF"/>
                </a:solidFill>
                <a:latin typeface="Arial"/>
              </a:rPr>
              <a:t>See a Demo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03520" y="4553712"/>
            <a:ext cx="2286000" cy="12700"/>
          </a:xfrm>
          <a:prstGeom prst="rect">
            <a:avLst/>
          </a:prstGeom>
          <a:solidFill>
            <a:srgbClr val="2A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892040" y="4709160"/>
            <a:ext cx="31089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0F0F4"/>
                </a:solidFill>
                <a:latin typeface="Arial"/>
              </a:rPr>
              <a:t>Live walkthrough:
15 minutes, your questions.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458200" y="3657600"/>
            <a:ext cx="3383280" cy="2194560"/>
          </a:xfrm>
          <a:prstGeom prst="roundRect">
            <a:avLst/>
          </a:prstGeom>
          <a:solidFill>
            <a:srgbClr val="1A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458200" y="3977640"/>
            <a:ext cx="3383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 b="1" i="0">
                <a:solidFill>
                  <a:srgbClr val="FFFFFF"/>
                </a:solidFill>
                <a:latin typeface="Arial"/>
              </a:rPr>
              <a:t>Learn More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06840" y="4553712"/>
            <a:ext cx="2286000" cy="12700"/>
          </a:xfrm>
          <a:prstGeom prst="rect">
            <a:avLst/>
          </a:prstGeom>
          <a:solidFill>
            <a:srgbClr val="2A5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595360" y="4709160"/>
            <a:ext cx="31089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0F0F4"/>
                </a:solidFill>
                <a:latin typeface="Arial"/>
              </a:rPr>
              <a:t>Take our one-page summary
and book a follow-up.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355080"/>
            <a:ext cx="11155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1585"/>
                </a:solidFill>
                <a:latin typeface="Arial"/>
              </a:rPr>
              <a:t>onemember.app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2446</Words>
  <Application>Microsoft Macintosh PowerPoint</Application>
  <PresentationFormat>Widescreen</PresentationFormat>
  <Paragraphs>409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Michael Khaniss Jand</cp:lastModifiedBy>
  <cp:revision>2</cp:revision>
  <dcterms:created xsi:type="dcterms:W3CDTF">2013-01-27T09:14:16Z</dcterms:created>
  <dcterms:modified xsi:type="dcterms:W3CDTF">2026-07-02T15:57:49Z</dcterms:modified>
  <cp:category/>
</cp:coreProperties>
</file>