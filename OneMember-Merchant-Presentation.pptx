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TITLE (TARGET: 1 min)</a:t>
            </a:r>
          </a:p>
          <a:p/>
          <a:p>
            <a:r>
              <a:t>Open with: "Thank you for taking 20 minutes with us today."</a:t>
            </a:r>
          </a:p>
          <a:p/>
          <a:p>
            <a:r>
              <a:t>OneMember is a merchant growth platform — not just a loyalty app. Our mission is simple: give every local business the tools that enterprise chains have had for years.</a:t>
            </a:r>
          </a:p>
          <a:p/>
          <a:p>
            <a:r>
              <a:t>This presentation walks you through the problem, our solution, and why OneMember is different. By the end, we'd love to talk about getting your business started.</a:t>
            </a:r>
          </a:p>
          <a:p/>
          <a:p>
            <a:r>
              <a:t>Key talking points:</a:t>
            </a:r>
          </a:p>
          <a:p>
            <a:r>
              <a:t>• OneMember is already live and being used by merchants in Thailand</a:t>
            </a:r>
          </a:p>
          <a:p>
            <a:r>
              <a:t>• This is a 20-minute conversation, not a sales pitch</a:t>
            </a:r>
          </a:p>
          <a:p>
            <a:r>
              <a:t>• Ask: "What loyalty or membership programme do you run today?"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THE PROBLEM (TARGET: 2 min)</a:t>
            </a:r>
          </a:p>
          <a:p/>
          <a:p>
            <a:r>
              <a:t>Set the scene before presenting the product. The merchant must feel understood.</a:t>
            </a:r>
          </a:p>
          <a:p/>
          <a:p>
            <a:r>
              <a:t>Pain points to emphasise:</a:t>
            </a:r>
          </a:p>
          <a:p>
            <a:r>
              <a:t>• Paper loyalty cards get lost, stolen, or forgotten — merchants have no visibility</a:t>
            </a:r>
          </a:p>
          <a:p>
            <a:r>
              <a:t>• Without data, merchants cannot run targeted promotions or understand customer behaviour</a:t>
            </a:r>
          </a:p>
          <a:p>
            <a:r>
              <a:t>• Customer acquisition costs are rising — it is cheaper to retain than to acquire</a:t>
            </a:r>
          </a:p>
          <a:p>
            <a:r>
              <a:t>• Competitors with digital loyalty programmes gain a measurable advantage</a:t>
            </a:r>
          </a:p>
          <a:p>
            <a:r>
              <a:t>• Existing solutions are either too expensive (enterprise) or too complicated (CRM tools)</a:t>
            </a:r>
          </a:p>
          <a:p/>
          <a:p>
            <a:r>
              <a:t>Ask: "How do you know which customers haven't been back in 3 months?"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COST OF LOSING CUSTOMERS (TARGET: 1 min)</a:t>
            </a:r>
          </a:p>
          <a:p/>
          <a:p>
            <a:r>
              <a:t>Let the statistics speak. Do not rush this slide.</a:t>
            </a:r>
          </a:p>
          <a:p/>
          <a:p>
            <a:r>
              <a:t>• Research: acquiring a new customer costs 5–7× more than retaining an existing one</a:t>
            </a:r>
          </a:p>
          <a:p>
            <a:r>
              <a:t>• Repeat customers spend 67% more on average than new customers</a:t>
            </a:r>
          </a:p>
          <a:p>
            <a:r>
              <a:t>• A 5% increase in retention can increase profit by 25–95% (Bain &amp; Company)</a:t>
            </a:r>
          </a:p>
          <a:p/>
          <a:p>
            <a:r>
              <a:t>The goal: make retention feel like the highest-ROI activity in the room.</a:t>
            </a:r>
          </a:p>
          <a:p/>
          <a:p>
            <a:r>
              <a:t>Ask: "If you could bring back 20% of your lapsed customers, what would that mean for your business?"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INTRODUCING ONEMEMBER (TARGET: 2 min)</a:t>
            </a:r>
          </a:p>
          <a:p/>
          <a:p>
            <a:r>
              <a:t>OneMember is built around five pillars:</a:t>
            </a:r>
          </a:p>
          <a:p/>
          <a:p>
            <a:r>
              <a:t>ACQUIRE — digital membership cards, QR-code sign-up, zero friction for customers</a:t>
            </a:r>
          </a:p>
          <a:p>
            <a:r>
              <a:t>RETAIN — automated birthday rewards, point expiry reminders, win-back campaigns</a:t>
            </a:r>
          </a:p>
          <a:p>
            <a:r>
              <a:t>REWARD — points, stamps, tiered rewards — customisable per merchant</a:t>
            </a:r>
          </a:p>
          <a:p>
            <a:r>
              <a:t>UNDERSTAND — real member data: visit frequency, spending patterns, demographics</a:t>
            </a:r>
          </a:p>
          <a:p>
            <a:r>
              <a:t>GROW — intelligence that turns data into action</a:t>
            </a:r>
          </a:p>
          <a:p/>
          <a:p>
            <a:r>
              <a:t>Positioning: "We are not a loyalty app. We are a merchant growth platform."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THE MERCHANT JOURNEY (TARGET: 2 min)</a:t>
            </a:r>
          </a:p>
          <a:p/>
          <a:p>
            <a:r>
              <a:t>Walk through each step. Make it feel achievable.</a:t>
            </a:r>
          </a:p>
          <a:p/>
          <a:p>
            <a:r>
              <a:t>1. Register → takes 5 minutes, no contract required</a:t>
            </a:r>
          </a:p>
          <a:p>
            <a:r>
              <a:t>2. Campaign → set up your loyalty programme (points, stamps, or hybrid)</a:t>
            </a:r>
          </a:p>
          <a:p>
            <a:r>
              <a:t>3. Members → customers scan your QR code and join instantly</a:t>
            </a:r>
          </a:p>
          <a:p>
            <a:r>
              <a:t>4. Rewards → configure what members earn and what they can redeem</a:t>
            </a:r>
          </a:p>
          <a:p>
            <a:r>
              <a:t>5. Track → view real-time dashboard: active members, redemptions, revenue</a:t>
            </a:r>
          </a:p>
          <a:p>
            <a:r>
              <a:t>6. Grow → use insights to launch targeted campaigns and win-back flows</a:t>
            </a:r>
          </a:p>
          <a:p/>
          <a:p>
            <a:r>
              <a:t>Ask: "Which step feels most valuable for your business right now?"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THE CUSTOMER JOURNEY (TARGET: 1 min)</a:t>
            </a:r>
          </a:p>
          <a:p/>
          <a:p>
            <a:r>
              <a:t>The customer experience is designed to take less than 30 seconds for first-time sign-up.</a:t>
            </a:r>
          </a:p>
          <a:p/>
          <a:p>
            <a:r>
              <a:t>1. Visit → customer comes to your business</a:t>
            </a:r>
          </a:p>
          <a:p>
            <a:r>
              <a:t>2. Scan → one QR code scan on their phone</a:t>
            </a:r>
          </a:p>
          <a:p>
            <a:r>
              <a:t>3. Share → first name and phone number only (no app download required)</a:t>
            </a:r>
          </a:p>
          <a:p>
            <a:r>
              <a:t>4. Instant Member → they are enrolled and receive their first points immediately</a:t>
            </a:r>
          </a:p>
          <a:p>
            <a:r>
              <a:t>5. Earn → every visit earns points or stamps</a:t>
            </a:r>
          </a:p>
          <a:p>
            <a:r>
              <a:t>6. Redeem → exchange points for rewards you define</a:t>
            </a:r>
          </a:p>
          <a:p>
            <a:r>
              <a:t>7. Return → rewards drive repeat visits</a:t>
            </a:r>
          </a:p>
          <a:p/>
          <a:p>
            <a:r>
              <a:t>North Star: "A customer can join in under 30 seconds."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TRADITIONAL vs ONEMEMBER (TARGET: 2 min)</a:t>
            </a:r>
          </a:p>
          <a:p/>
          <a:p>
            <a:r>
              <a:t>Use this to handle objections before they are raised.</a:t>
            </a:r>
          </a:p>
          <a:p/>
          <a:p>
            <a:r>
              <a:t>Traditional loyalty:</a:t>
            </a:r>
          </a:p>
          <a:p>
            <a:r>
              <a:t>• Paper cards get lost or damaged</a:t>
            </a:r>
          </a:p>
          <a:p>
            <a:r>
              <a:t>• No customer data collected</a:t>
            </a:r>
          </a:p>
          <a:p>
            <a:r>
              <a:t>• Manual tracking, error-prone</a:t>
            </a:r>
          </a:p>
          <a:p>
            <a:r>
              <a:t>• No automated communications</a:t>
            </a:r>
          </a:p>
          <a:p>
            <a:r>
              <a:t>• No analytics or reporting</a:t>
            </a:r>
          </a:p>
          <a:p>
            <a:r>
              <a:t>• Expensive to implement or scale</a:t>
            </a:r>
          </a:p>
          <a:p/>
          <a:p>
            <a:r>
              <a:t>OneMember:</a:t>
            </a:r>
          </a:p>
          <a:p>
            <a:r>
              <a:t>• Digital — works on any smartphone, no app download</a:t>
            </a:r>
          </a:p>
          <a:p>
            <a:r>
              <a:t>• Full member profile from first scan</a:t>
            </a:r>
          </a:p>
          <a:p>
            <a:r>
              <a:t>• Automated point tracking and rewards</a:t>
            </a:r>
          </a:p>
          <a:p>
            <a:r>
              <a:t>• Automated birthday emails, expiry reminders</a:t>
            </a:r>
          </a:p>
          <a:p>
            <a:r>
              <a:t>• Real-time dashboard and reports</a:t>
            </a:r>
          </a:p>
          <a:p>
            <a:r>
              <a:t>• Affordable flat monthly fee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BENEFITS FOR MERCHANTS (TARGET: 1 min)</a:t>
            </a:r>
          </a:p>
          <a:p/>
          <a:p>
            <a:r>
              <a:t>Each benefit should connect to a real merchant pain point.</a:t>
            </a:r>
          </a:p>
          <a:p/>
          <a:p>
            <a:r>
              <a:t>1. Grow your member database automatically with every customer visit</a:t>
            </a:r>
          </a:p>
          <a:p>
            <a:r>
              <a:t>2. Know your customers — demographics, visit frequency, spend patterns</a:t>
            </a:r>
          </a:p>
          <a:p>
            <a:r>
              <a:t>3. Send targeted promotions to the right customers at the right time</a:t>
            </a:r>
          </a:p>
          <a:p>
            <a:r>
              <a:t>4. Automate birthday and anniversary rewards — no manual effort</a:t>
            </a:r>
          </a:p>
          <a:p>
            <a:r>
              <a:t>5. Reduce reliance on discounting — use loyalty rewards instead</a:t>
            </a:r>
          </a:p>
          <a:p>
            <a:r>
              <a:t>6. One dashboard for members, transactions, rewards, and reports</a:t>
            </a:r>
          </a:p>
          <a:p>
            <a:r>
              <a:t>7. Affordable monthly subscription — no per-transaction fees</a:t>
            </a:r>
          </a:p>
          <a:p>
            <a:r>
              <a:t>8. Setup in under 10 minutes — no IT team required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BENEFITS FOR CUSTOMERS (TARGET: 1 min)</a:t>
            </a:r>
          </a:p>
          <a:p/>
          <a:p>
            <a:r>
              <a:t>Remind the merchant that a great customer experience drives adoption.</a:t>
            </a:r>
          </a:p>
          <a:p/>
          <a:p>
            <a:r>
              <a:t>1. No app download required — works in any mobile browser</a:t>
            </a:r>
          </a:p>
          <a:p>
            <a:r>
              <a:t>2. Join in under 30 seconds with just a name and phone number</a:t>
            </a:r>
          </a:p>
          <a:p>
            <a:r>
              <a:t>3. Earn points or stamps on every visit automatically</a:t>
            </a:r>
          </a:p>
          <a:p>
            <a:r>
              <a:t>4. Redeem rewards instantly at point of sale</a:t>
            </a:r>
          </a:p>
          <a:p>
            <a:r>
              <a:t>5. Receive birthday rewards and special member offers</a:t>
            </a:r>
          </a:p>
          <a:p>
            <a:r>
              <a:t>6. Privacy-first — minimal data collection, no unnecessary permissions</a:t>
            </a:r>
          </a:p>
          <a:p>
            <a:r>
              <a:t>7. Works at every location of the same merchant chain</a:t>
            </a:r>
          </a:p>
          <a:p>
            <a:r>
              <a:t>8. Digital card always available — can never be lost or forgotten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BUSINESS INTELLIGENCE (TARGET: 1 min)</a:t>
            </a:r>
          </a:p>
          <a:p/>
          <a:p>
            <a:r>
              <a:t>Position this as the future state — currently in roadmap.</a:t>
            </a:r>
          </a:p>
          <a:p/>
          <a:p>
            <a:r>
              <a:t>"Right now you get a clear dashboard. In the next phase, OneMember will layer intelligence on top of your member data."</a:t>
            </a:r>
          </a:p>
          <a:p/>
          <a:p>
            <a:r>
              <a:t>Capabilities coming:</a:t>
            </a:r>
          </a:p>
          <a:p>
            <a:r>
              <a:t>• Member churn prediction — which customers are at risk of not returning</a:t>
            </a:r>
          </a:p>
          <a:p>
            <a:r>
              <a:t>• Campaign performance analytics — which promotions drive the most revenue</a:t>
            </a:r>
          </a:p>
          <a:p>
            <a:r>
              <a:t>• Spend segmentation — your top 20% of customers drive 80% of revenue</a:t>
            </a:r>
          </a:p>
          <a:p>
            <a:r>
              <a:t>• Visit frequency heat maps — when are your busiest and quietest days</a:t>
            </a:r>
          </a:p>
          <a:p>
            <a:r>
              <a:t>• Automated win-back — trigger an offer when a customer hasn't visited in 30 days</a:t>
            </a:r>
          </a:p>
          <a:p/>
          <a:p>
            <a:r>
              <a:t>"We are building the CRM that local businesses have never had access to before."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FUTURE VISION (TARGET: 1 min)</a:t>
            </a:r>
          </a:p>
          <a:p/>
          <a:p>
            <a:r>
              <a:t>This is the "why invest in this relationship" slide. Keep it brief — it is about direction, not promises.</a:t>
            </a:r>
          </a:p>
          <a:p/>
          <a:p>
            <a:r>
              <a:t>Phase 1 (Now): Merchant loyalty foundation — membership, rewards, campaigns, analytics</a:t>
            </a:r>
          </a:p>
          <a:p>
            <a:r>
              <a:t>Phase 2: Customer Wallet — customers hold their loyalty cards in a unified OneMember wallet app</a:t>
            </a:r>
          </a:p>
          <a:p>
            <a:r>
              <a:t>Phase 3: Commerce — buy/sell within the OneMember ecosystem</a:t>
            </a:r>
          </a:p>
          <a:p>
            <a:r>
              <a:t>Phase 4: POS Integration — replace or connect to point-of-sale systems</a:t>
            </a:r>
          </a:p>
          <a:p>
            <a:r>
              <a:t>Phase 5: Inventory — smart inventory management linked to loyalty data</a:t>
            </a:r>
          </a:p>
          <a:p>
            <a:r>
              <a:t>Phase 6: Accounting — integrate loyalty and sales data with accounting</a:t>
            </a:r>
          </a:p>
          <a:p>
            <a:r>
              <a:t>Phase 7: AI — personalised recommendations, predictive analytics</a:t>
            </a:r>
          </a:p>
          <a:p>
            <a:r>
              <a:t>Phase 8: Regional — expand beyond Thailand to Southeast Asia</a:t>
            </a:r>
          </a:p>
          <a:p/>
          <a:p>
            <a:r>
              <a:t>"We are building the operating system for local business."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WHY ONEMEMBER IS DIFFERENT (TARGET: 1 min)</a:t>
            </a:r>
          </a:p>
          <a:p/>
          <a:p>
            <a:r>
              <a:t>Use this to close out the story before the CTA.</a:t>
            </a:r>
          </a:p>
          <a:p/>
          <a:p>
            <a:r>
              <a:t>1. Merchant-first design — every feature is built for the merchant's needs, not the customer's app store rating</a:t>
            </a:r>
          </a:p>
          <a:p>
            <a:r>
              <a:t>2. No app download for customers — highest barrier to adoption is gone</a:t>
            </a:r>
          </a:p>
          <a:p>
            <a:r>
              <a:t>3. Privacy by design — we collect the minimum data needed</a:t>
            </a:r>
          </a:p>
          <a:p>
            <a:r>
              <a:t>4. Thailand-first localisation — Thai Baht, Thai language, local payment context</a:t>
            </a:r>
          </a:p>
          <a:p>
            <a:r>
              <a:t>5. Affordable for SMEs — not enterprise pricing</a:t>
            </a:r>
          </a:p>
          <a:p>
            <a:r>
              <a:t>6. Built to grow with you — from a single outlet to a chain of locations</a:t>
            </a:r>
          </a:p>
          <a:p/>
          <a:p>
            <a:r>
              <a:t>"We built this for merchants like you."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CALL TO ACTION (TARGET: 1 min)</a:t>
            </a:r>
          </a:p>
          <a:p/>
          <a:p>
            <a:r>
              <a:t>Close with clarity. Three options only.</a:t>
            </a:r>
          </a:p>
          <a:p/>
          <a:p>
            <a:r>
              <a:t>Option A: "I'm ready — let's set up my account today."</a:t>
            </a:r>
          </a:p>
          <a:p>
            <a:r>
              <a:t>→ Offer to open a laptop and register them now. Takes 5 minutes.</a:t>
            </a:r>
          </a:p>
          <a:p/>
          <a:p>
            <a:r>
              <a:t>Option B: "I want to try it — can I see a demo?"</a:t>
            </a:r>
          </a:p>
          <a:p>
            <a:r>
              <a:t>→ Offer a 15-minute live demo: register, create a campaign, simulate a customer scan.</a:t>
            </a:r>
          </a:p>
          <a:p/>
          <a:p>
            <a:r>
              <a:t>Option C: "I'm interested but need more time."</a:t>
            </a:r>
          </a:p>
          <a:p>
            <a:r>
              <a:t>→ Leave a one-page summary. Book a follow-up within 48 hours.</a:t>
            </a:r>
          </a:p>
          <a:p/>
          <a:p>
            <a:r>
              <a:t>Do not leave without a next step. Every conversation should end with a date and time for a follow-up.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005840" y="1097280"/>
            <a:ext cx="640080" cy="640080"/>
          </a:xfrm>
          <a:prstGeom prst="hexagon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9601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 Light"/>
              </a:rPr>
              <a:t>OneMember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1585"/>
                </a:solidFill>
                <a:latin typeface="Calibri Light"/>
              </a:rPr>
              <a:t>Reward Loyalty.  Grow Your Business.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4"/>
                </a:solidFill>
                <a:latin typeface="Calibri Light"/>
              </a:rPr>
              <a:t>The Merchant Growth Platform for Modern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520440"/>
            <a:ext cx="7315200" cy="190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74903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Merchant Overview  |  2026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onemember.app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THE PROBLEM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Local businesses are fighting with tools designed for the last century.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3611880" cy="17830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361188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0195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  <a:latin typeface="Calibri"/>
              </a:rPr>
              <a:t>Paper Loyalty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40280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Get lost, damaged, or forgotten.
Merchants gain nothing from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611880" cy="17830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61188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90195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  <a:latin typeface="Calibri"/>
              </a:rPr>
              <a:t>No Customer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240280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You serve hundreds of people
but you don't know any of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737360"/>
            <a:ext cx="3611880" cy="17830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737360"/>
            <a:ext cx="361188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90195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  <a:latin typeface="Calibri"/>
              </a:rPr>
              <a:t>Expensive to Acquire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240280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New customer acquisition costs
5–7× more than retention.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03320"/>
            <a:ext cx="3611880" cy="17830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703320"/>
            <a:ext cx="361188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86791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  <a:latin typeface="Calibri"/>
              </a:rPr>
              <a:t>No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206240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Birthday offers, win-back campaigns,
expiry reminders — all done manually.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03320"/>
            <a:ext cx="3611880" cy="17830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03320"/>
            <a:ext cx="361188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86791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  <a:latin typeface="Calibri"/>
              </a:rPr>
              <a:t>Fragmented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206240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Spreadsheets, WhatsApp, paper —
no single source of truth.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703320"/>
            <a:ext cx="3611880" cy="178308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703320"/>
            <a:ext cx="361188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867912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  <a:latin typeface="Calibri"/>
              </a:rPr>
              <a:t>Competitor Advantage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206240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Chains have digital loyalty.
Independents are playing catch-up.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THE COST OF LOSING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 Light"/>
              </a:rPr>
              <a:t>Retention is the highest-ROI
activity in your business.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749039" cy="32004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1585"/>
                </a:solidFill>
                <a:latin typeface="Calibri"/>
              </a:rPr>
              <a:t>5–7×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Calibri Light"/>
              </a:rPr>
              <a:t>more expensive to acquire
a new customer than retain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399" y="2194560"/>
            <a:ext cx="3749039" cy="32004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260604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1585"/>
                </a:solidFill>
                <a:latin typeface="Calibri"/>
              </a:rP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3886200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Calibri Light"/>
              </a:rPr>
              <a:t>more revenue from repeat
customers vs. new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2194560"/>
            <a:ext cx="3749039" cy="320040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8" y="260604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1585"/>
                </a:solidFill>
                <a:latin typeface="Calibri"/>
              </a:rPr>
              <a:t>25–95%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3886200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4"/>
                </a:solidFill>
                <a:latin typeface="Calibri Light"/>
              </a:rPr>
              <a:t>profit increase from just
a 5% rise in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Sources: Bain &amp; Company, Harvard Business Review, Forbes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INTRODUCING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OneMember — The Merchant Growth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 Light"/>
              </a:rPr>
              <a:t>Five capabilities. One platform. Built for local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194560" cy="329184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ACQUIRE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12801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QR sign-up in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331720"/>
            <a:ext cx="2194560" cy="3291840"/>
          </a:xfrm>
          <a:prstGeom prst="roundRect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RETAIN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3657600"/>
            <a:ext cx="12801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Automated re-engagement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2331720"/>
            <a:ext cx="2194560" cy="3291840"/>
          </a:xfrm>
          <a:prstGeom prst="roundRect">
            <a:avLst/>
          </a:prstGeom>
          <a:solidFill>
            <a:srgbClr val="5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REWARD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2704" y="3657600"/>
            <a:ext cx="12801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66944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Points, stamps, redemptions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4656" y="2331720"/>
            <a:ext cx="2194560" cy="3291840"/>
          </a:xfrm>
          <a:prstGeom prst="round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1856" y="3657600"/>
            <a:ext cx="12801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6096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Real customer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93808" y="2331720"/>
            <a:ext cx="2194560" cy="3291840"/>
          </a:xfrm>
          <a:prstGeom prst="roundRect">
            <a:avLst/>
          </a:prstGeom>
          <a:solidFill>
            <a:srgbClr val="3A1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971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GROW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51008" y="3657600"/>
            <a:ext cx="12801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5248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Intelligence into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YOUR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From zero to a thriving membership programme.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783080" cy="320040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10515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Sign up in
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3375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920240"/>
            <a:ext cx="1783080" cy="3200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148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5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6974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5A"/>
                </a:solidFill>
                <a:latin typeface="Calibri"/>
              </a:rPr>
              <a:t>Campaign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3246120"/>
            <a:ext cx="105156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34290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 Light"/>
              </a:rPr>
              <a:t>Design your
loyalty scheme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3375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920240"/>
            <a:ext cx="1783080" cy="3200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148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5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974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5A"/>
                </a:solidFill>
                <a:latin typeface="Calibri"/>
              </a:rPr>
              <a:t>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246120"/>
            <a:ext cx="105156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4290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 Light"/>
              </a:rPr>
              <a:t>Customers scan
your QR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375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920240"/>
            <a:ext cx="1783080" cy="3200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48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5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6974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5A"/>
                </a:solidFill>
                <a:latin typeface="Calibri"/>
              </a:rPr>
              <a:t>Rewards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3246120"/>
            <a:ext cx="105156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4290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 Light"/>
              </a:rPr>
              <a:t>Configure what
members 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3375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1920240"/>
            <a:ext cx="1783080" cy="3200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48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E5A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6974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E5A"/>
                </a:solidFill>
                <a:latin typeface="Calibri"/>
              </a:rPr>
              <a:t>Track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246120"/>
            <a:ext cx="105156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4290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 Light"/>
              </a:rPr>
              <a:t>Real-time
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3375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1585"/>
                </a:solidFill>
                <a:latin typeface="Calibr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1920240"/>
            <a:ext cx="1783080" cy="3200400"/>
          </a:xfrm>
          <a:prstGeom prst="round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2148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26974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60" y="3246120"/>
            <a:ext cx="10515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34290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Insights drive
new campaigns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Join in under 30 seconds. Earn on every visit.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20240"/>
            <a:ext cx="157276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7004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Calibri"/>
              </a:rPr>
              <a:t>Visit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24612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Customer arrives
at your business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1920240"/>
            <a:ext cx="1572768" cy="3200400"/>
          </a:xfrm>
          <a:prstGeom prst="round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51176" y="2103120"/>
            <a:ext cx="457200" cy="45720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1176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2536" y="267004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324612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Calibri Light"/>
              </a:rPr>
              <a:t>One QR code
on their phone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5032" y="1920240"/>
            <a:ext cx="157276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33672" y="2103120"/>
            <a:ext cx="457200" cy="45720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67004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Calibri"/>
              </a:rPr>
              <a:t>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324612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Name + phone
number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7528" y="1920240"/>
            <a:ext cx="1572768" cy="3200400"/>
          </a:xfrm>
          <a:prstGeom prst="round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16168" y="2103120"/>
            <a:ext cx="457200" cy="45720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267004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24612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Calibri Light"/>
              </a:rPr>
              <a:t>Instantly
enrolled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0024" y="1920240"/>
            <a:ext cx="157276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8664" y="2103120"/>
            <a:ext cx="457200" cy="45720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4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024" y="267004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Calibri"/>
              </a:rPr>
              <a:t>Earn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24612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Points on
every visit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1920240"/>
            <a:ext cx="157276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81160" y="2103120"/>
            <a:ext cx="457200" cy="45720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67004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5A"/>
                </a:solidFill>
                <a:latin typeface="Calibri"/>
              </a:rPr>
              <a:t>Redeem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324612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Exchange for
your rewards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15016" y="1920240"/>
            <a:ext cx="1572768" cy="3200400"/>
          </a:xfrm>
          <a:prstGeom prst="round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63656" y="2103120"/>
            <a:ext cx="457200" cy="45720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63656" y="21214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5016" y="267004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Return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3246120"/>
            <a:ext cx="142646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0F4"/>
                </a:solidFill>
                <a:latin typeface="Calibri Light"/>
              </a:rPr>
              <a:t>Rewards drive
repeat visits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1585"/>
                </a:solidFill>
                <a:latin typeface="Calibri"/>
              </a:rPr>
              <a:t>North Star: Join in &lt; 30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THE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Why OneMember wins.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291840" cy="411480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5A"/>
                </a:solidFill>
                <a:latin typeface="Calibri"/>
              </a:rP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691640"/>
            <a:ext cx="4114800" cy="4114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7373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TRADITIONAL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91640"/>
            <a:ext cx="3749039" cy="41148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ONEMEMBER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329184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9456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Customer Sign-up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103120"/>
            <a:ext cx="411480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2194560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Paper card — easily lost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749039" cy="512064"/>
          </a:xfrm>
          <a:prstGeom prst="rect">
            <a:avLst/>
          </a:prstGeom>
          <a:solidFill>
            <a:srgbClr val="FF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194560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QR scan — digital, instant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5184"/>
            <a:ext cx="32918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706624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Customer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615184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2706624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None collected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615184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706624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Full profile from first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27066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27248"/>
            <a:ext cx="329184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218688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Point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127248"/>
            <a:ext cx="411480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41648" y="3218688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Manual — error prone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27248"/>
            <a:ext cx="3749039" cy="512064"/>
          </a:xfrm>
          <a:prstGeom prst="rect">
            <a:avLst/>
          </a:prstGeom>
          <a:solidFill>
            <a:srgbClr val="FF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3218688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Automatic — real-time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32186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39312"/>
            <a:ext cx="32918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730752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Birthday Rewards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639312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41648" y="3730752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Manual follow-up or forgotten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639312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3730752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Automated email on the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37307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51376"/>
            <a:ext cx="329184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242816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Win-back Campaigns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4151376"/>
            <a:ext cx="411480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1648" y="4242816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Not possible without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151376"/>
            <a:ext cx="3749039" cy="512064"/>
          </a:xfrm>
          <a:prstGeom prst="rect">
            <a:avLst/>
          </a:prstGeom>
          <a:solidFill>
            <a:srgbClr val="FF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8" y="4242816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Automated trigger at 30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42428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63440"/>
            <a:ext cx="32918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475488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Analytics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4663440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41648" y="4754880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663440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8" y="4754880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Dashboard: visits, spend, trends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175504"/>
            <a:ext cx="329184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266944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Setup Time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1920" y="5175504"/>
            <a:ext cx="4114800" cy="512064"/>
          </a:xfrm>
          <a:prstGeom prst="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41648" y="5266944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Physical design + printing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5175504"/>
            <a:ext cx="3749039" cy="512064"/>
          </a:xfrm>
          <a:prstGeom prst="rect">
            <a:avLst/>
          </a:prstGeom>
          <a:solidFill>
            <a:srgbClr val="FF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8" y="5266944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Under 10 minutes online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52669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687568"/>
            <a:ext cx="32918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5779008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Monthly Cost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0" y="5687568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41648" y="5779008"/>
            <a:ext cx="389534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Printing + time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5687568"/>
            <a:ext cx="3749039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9328" y="5779008"/>
            <a:ext cx="352958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5A"/>
                </a:solidFill>
                <a:latin typeface="Calibri Light"/>
              </a:rPr>
              <a:t>Affordable flat subscription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11312" y="57790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1585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FOR YOUR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Everything you need to grow and keep your customers.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87451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187451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Grow Your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Add members automatically
with every customer visit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87451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704" y="187451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Know Your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Demographics, visit frequency,
spending patterns — all visible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87451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87451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Targeted Promotions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Send the right offer to
the right customer at the right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87451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87451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Automate Rewards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Birthday, anniversary, and
expiry — all hands-free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06907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" y="406907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Reduce Discounting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Replace blanket discounts
with valuable loyalty rewards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6704" y="406907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46704" y="406907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One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Members, transactions, rewards,
and reports in one place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06907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2784" y="406907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Affordable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Flat monthly fee — no
per-transaction surprises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4" y="4069079"/>
            <a:ext cx="2743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98864" y="4069079"/>
            <a:ext cx="2743200" cy="381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45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Fast Setup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Online in under 10 minutes.
No IT team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E5A"/>
                </a:solidFill>
                <a:latin typeface="Calibri"/>
              </a:rPr>
              <a:t>FOR YOUR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A loyalty experience they will actually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87451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187451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No App Download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Runs in any mobile
browser — zero friction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87451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704" y="187451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Join in 30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Name and phone number.
Nothing more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87451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87451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Earn Every Visit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Points or stamps
automatically applied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87451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87451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203911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Instant Redemption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46887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Redeem rewards at
the counter in seconds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06907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" y="406907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Birthday Rewards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Receive a special offer
on their birthday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6704" y="406907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46704" y="406907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Privacy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Minimal data collection.
No unnecessary permissions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06907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2784" y="406907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Works Everywhere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Valid at every location
of your business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4" y="4069079"/>
            <a:ext cx="2743200" cy="205740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98864" y="4069079"/>
            <a:ext cx="2743200" cy="381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456" y="4233671"/>
            <a:ext cx="2414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Always With Them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4663439"/>
            <a:ext cx="24140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Digital card — can never
be lost or forgotten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7315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 Light"/>
              </a:rPr>
              <a:t>Your member data becomes
your competitive advantage.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3611880" cy="16916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2331720"/>
            <a:ext cx="38100" cy="16916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Churn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9864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4"/>
                </a:solidFill>
                <a:latin typeface="Calibri Light"/>
              </a:rPr>
              <a:t>Know which customers are at risk
before they stop coming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611880" cy="16916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331720"/>
            <a:ext cx="38100" cy="16916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Campaign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9864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4"/>
                </a:solidFill>
                <a:latin typeface="Calibri Light"/>
              </a:rPr>
              <a:t>See which promotions drive revenue
and which ones to 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611880" cy="16916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38100" cy="16916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Spend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9864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4"/>
                </a:solidFill>
                <a:latin typeface="Calibri Light"/>
              </a:rPr>
              <a:t>Identify your top 20% of customers
who drive 80% of your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87952"/>
            <a:ext cx="3611880" cy="16916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87952"/>
            <a:ext cx="38100" cy="16916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251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Frequency Heat Maps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548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4"/>
                </a:solidFill>
                <a:latin typeface="Calibri Light"/>
              </a:rPr>
              <a:t>Discover your busiest days and hours
to schedule offers precisely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187952"/>
            <a:ext cx="3611880" cy="16916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4187952"/>
            <a:ext cx="38100" cy="16916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3251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Win-Back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548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4"/>
                </a:solidFill>
                <a:latin typeface="Calibri Light"/>
              </a:rPr>
              <a:t>Trigger a personalised offer when
a member hasn't visited in 30 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187952"/>
            <a:ext cx="3611880" cy="169164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4187952"/>
            <a:ext cx="38100" cy="169164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3251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Revenue 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7548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4"/>
                </a:solidFill>
                <a:latin typeface="Calibri Light"/>
              </a:rPr>
              <a:t>Link every campaign directly
to incremental revenue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309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Coming in Phase 2 — OneMember Intelligence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WHERE WE ARE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Building the operating system for local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371600" cy="320040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E40"/>
                </a:solidFill>
                <a:latin typeface="Calibr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Merchant
Loyalty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48055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E40"/>
                </a:solidFill>
                <a:latin typeface="Calibr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2808" y="1874519"/>
            <a:ext cx="1371600" cy="3200400"/>
          </a:xfrm>
          <a:prstGeom prst="round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8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8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Customer
Wallet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874519"/>
            <a:ext cx="1371600" cy="3200400"/>
          </a:xfrm>
          <a:prstGeom prst="round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Commerce
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5464" y="1874519"/>
            <a:ext cx="1371600" cy="32004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POS
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1874519"/>
            <a:ext cx="1371600" cy="32004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Inventory
Mgmt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874519"/>
            <a:ext cx="1371600" cy="32004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Accounting
Connect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1874519"/>
            <a:ext cx="1371600" cy="32004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AI &amp;
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0776" y="1874519"/>
            <a:ext cx="1371600" cy="32004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0776" y="20573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0776" y="2514599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Regional
Expansion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 Light"/>
              </a:rPr>
              <a:t>Our direction of travel  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1585"/>
                </a:solidFill>
                <a:latin typeface="Calibri"/>
              </a:rPr>
              <a:t>WHY ONEMEMBER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 Light"/>
              </a:rPr>
              <a:t>Six reasons we are different.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3611880" cy="19659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Merchant-First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14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Every feature is built for merchant growth — not for an app store rating.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611880" cy="19659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2011680"/>
            <a:ext cx="411480" cy="41148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299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1168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No App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14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The highest barrier to customer adoption is eliminated. Customers scan. That's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828800"/>
            <a:ext cx="3611880" cy="19659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011680"/>
            <a:ext cx="411480" cy="41148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299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01168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Privacy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5146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We collect the minimum data needed. Customers trust merchants who respect their privacy.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959352"/>
            <a:ext cx="3611880" cy="19659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4142232"/>
            <a:ext cx="411480" cy="41148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4223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Built for Thailand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645152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Thai Baht, Thai language, local business context. No imported product to localise.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959352"/>
            <a:ext cx="3611880" cy="19659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34840" y="4142232"/>
            <a:ext cx="411480" cy="41148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14223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SME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645152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Enterprise-grade loyalty tools at a price point that works for local businesses.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959352"/>
            <a:ext cx="3611880" cy="1965960"/>
          </a:xfrm>
          <a:prstGeom prst="roundRect">
            <a:avLst/>
          </a:prstGeom>
          <a:solidFill>
            <a:srgbClr val="F0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4142232"/>
            <a:ext cx="411480" cy="411480"/>
          </a:xfrm>
          <a:prstGeom prst="ellipse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1605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14223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Built to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645152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Start with one outlet. Grow to a chain. OneMember scales as your business grows.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 Light"/>
              </a:rPr>
              <a:t>Ready to grow?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0F4"/>
                </a:solidFill>
                <a:latin typeface="Calibri Light"/>
              </a:rPr>
              <a:t>Join OneMember today and turn every visit into a loyal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108960"/>
            <a:ext cx="3383280" cy="2103120"/>
          </a:xfrm>
          <a:prstGeom prst="roundRect">
            <a:avLst/>
          </a:prstGeom>
          <a:solidFill>
            <a:srgbClr val="FF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Start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7764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0E8"/>
                </a:solidFill>
                <a:latin typeface="Calibri Light"/>
              </a:rPr>
              <a:t>Register your account now.
Takes 5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108960"/>
            <a:ext cx="3383280" cy="210312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429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See a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97764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Watch OneMember live
in a 15-minute walkthrough.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108960"/>
            <a:ext cx="3383280" cy="2103120"/>
          </a:xfrm>
          <a:prstGeom prst="roundRect">
            <a:avLst/>
          </a:prstGeom>
          <a:solidFill>
            <a:srgbClr val="1A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429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Learn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97764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4"/>
                </a:solidFill>
                <a:latin typeface="Calibri Light"/>
              </a:rPr>
              <a:t>Take home our one-page
summary and follow 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1585"/>
                </a:solidFill>
                <a:latin typeface="Calibri"/>
              </a:rPr>
              <a:t>onemember.app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